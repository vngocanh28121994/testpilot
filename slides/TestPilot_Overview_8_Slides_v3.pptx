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084f1c6bc84ea5" /><Relationship Type="http://schemas.openxmlformats.org/officeDocument/2006/relationships/extended-properties" Target="/docProps/app.xml" Id="R15d6e77edc7b464a" /><Relationship Type="http://schemas.openxmlformats.org/officeDocument/2006/relationships/officeDocument" Target="/ppt/presentation.xml" Id="Rcf06fcde5b244f82" /></Relationships>
</file>

<file path=ppt/presentation.xml><?xml version="1.0" encoding="utf-8"?>
<p:presentation xmlns:p="http://schemas.openxmlformats.org/presentationml/2006/main">
  <p:sldMasterIdLst>
    <p:sldMasterId xmlns:r="http://schemas.openxmlformats.org/officeDocument/2006/relationships" id="2147483648" r:id="Rdab239b08221434b"/>
  </p:sldMasterIdLst>
  <p:notesMasterIdLst>
    <p:notesMasterId xmlns:r="http://schemas.openxmlformats.org/officeDocument/2006/relationships" r:id="Rba6a2205d3124b3a"/>
  </p:notesMasterIdLst>
  <p:sldIdLst>
    <p:sldId xmlns:r="http://schemas.openxmlformats.org/officeDocument/2006/relationships" id="256" r:id="R9c305f91e3d5492e"/>
    <p:sldId xmlns:r="http://schemas.openxmlformats.org/officeDocument/2006/relationships" id="257" r:id="Re5f9cc758c2f41e8"/>
    <p:sldId xmlns:r="http://schemas.openxmlformats.org/officeDocument/2006/relationships" id="258" r:id="R978c520fe56e48d1"/>
    <p:sldId xmlns:r="http://schemas.openxmlformats.org/officeDocument/2006/relationships" id="259" r:id="Re21f38b80b074e2d"/>
    <p:sldId xmlns:r="http://schemas.openxmlformats.org/officeDocument/2006/relationships" id="260" r:id="R704d82bfce994358"/>
    <p:sldId xmlns:r="http://schemas.openxmlformats.org/officeDocument/2006/relationships" id="261" r:id="Re1801751c02c4244"/>
    <p:sldId xmlns:r="http://schemas.openxmlformats.org/officeDocument/2006/relationships" id="262" r:id="Rb792d5deaa624478"/>
    <p:sldId xmlns:r="http://schemas.openxmlformats.org/officeDocument/2006/relationships" id="263" r:id="R6cb5b59ec9974c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83568ec25d444b" /><Relationship Type="http://schemas.openxmlformats.org/officeDocument/2006/relationships/slideMaster" Target="/ppt/slideMasters/slideMaster1.xml" Id="Rdab239b08221434b" /><Relationship Type="http://schemas.openxmlformats.org/officeDocument/2006/relationships/notesMaster" Target="/ppt/notesMasters/notesMaster1.xml" Id="Rba6a2205d3124b3a" /><Relationship Type="http://schemas.openxmlformats.org/officeDocument/2006/relationships/presProps" Target="/ppt/presProps.xml" Id="R510e450a69a54c12" /><Relationship Type="http://schemas.openxmlformats.org/officeDocument/2006/relationships/tableStyles" Target="/ppt/tableStyles.xml" Id="R45b8943ed6fd49ab" /><Relationship Type="http://schemas.openxmlformats.org/officeDocument/2006/relationships/slide" Target="/ppt/slides/slide1.xml" Id="R9c305f91e3d5492e" /><Relationship Type="http://schemas.openxmlformats.org/officeDocument/2006/relationships/slide" Target="/ppt/slides/slide2.xml" Id="Re5f9cc758c2f41e8" /><Relationship Type="http://schemas.openxmlformats.org/officeDocument/2006/relationships/slide" Target="/ppt/slides/slide3.xml" Id="R978c520fe56e48d1" /><Relationship Type="http://schemas.openxmlformats.org/officeDocument/2006/relationships/slide" Target="/ppt/slides/slide4.xml" Id="Re21f38b80b074e2d" /><Relationship Type="http://schemas.openxmlformats.org/officeDocument/2006/relationships/slide" Target="/ppt/slides/slide5.xml" Id="R704d82bfce994358" /><Relationship Type="http://schemas.openxmlformats.org/officeDocument/2006/relationships/slide" Target="/ppt/slides/slide6.xml" Id="Re1801751c02c4244" /><Relationship Type="http://schemas.openxmlformats.org/officeDocument/2006/relationships/slide" Target="/ppt/slides/slide7.xml" Id="Rb792d5deaa624478" /><Relationship Type="http://schemas.openxmlformats.org/officeDocument/2006/relationships/slide" Target="/ppt/slides/slide8.xml" Id="R6cb5b59ec9974c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ea7970a88e4e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7a6b34e6ba47d5" /><Relationship Type="http://schemas.openxmlformats.org/officeDocument/2006/relationships/notesMaster" Target="/ppt/notesMasters/notesMaster1.xml" Id="R75ea8d22bef74a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8c1f8b990c4130" /><Relationship Type="http://schemas.openxmlformats.org/officeDocument/2006/relationships/notesMaster" Target="/ppt/notesMasters/notesMaster1.xml" Id="Rcdb84ff529a744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d991805fdc4f11" /><Relationship Type="http://schemas.openxmlformats.org/officeDocument/2006/relationships/notesMaster" Target="/ppt/notesMasters/notesMaster1.xml" Id="Ra18444236a2142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5221e4820b42ab" /><Relationship Type="http://schemas.openxmlformats.org/officeDocument/2006/relationships/notesMaster" Target="/ppt/notesMasters/notesMaster1.xml" Id="R94af9b8e65e040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883cf40f0a4335" /><Relationship Type="http://schemas.openxmlformats.org/officeDocument/2006/relationships/notesMaster" Target="/ppt/notesMasters/notesMaster1.xml" Id="R52701cd07e1841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58e6d9e7ad4195" /><Relationship Type="http://schemas.openxmlformats.org/officeDocument/2006/relationships/notesMaster" Target="/ppt/notesMasters/notesMaster1.xml" Id="Redfbfff1eb9349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d84aab5ec14ceb" /><Relationship Type="http://schemas.openxmlformats.org/officeDocument/2006/relationships/notesMaster" Target="/ppt/notesMasters/notesMaster1.xml" Id="Red5d1dfd6bbf46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e0655e4b564123" /><Relationship Type="http://schemas.openxmlformats.org/officeDocument/2006/relationships/notesMaster" Target="/ppt/notesMasters/notesMaster1.xml" Id="R6fe20b3003414f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một câu hỏi: cùng một feature, khi nào cần chạy rộng trên thiết bị thật, khi nào cần phản hồi nhanh tại local, và khi nào muốn tự động hoá từ tài liệu đến report? TestPilot trả lời ba nhu cầu đó bằng ba chế độ vận hành dùng chung một nền tảng.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luồng không tạo ba hệ thống rời nhau. Chúng dùng chung feature Gherkin, element registry, resolver, executor và report. Khác biệt nằm ở mục tiêu vận hành: farm cho độ phủ, local cho vòng lặp sửa lỗi, Studio cho quy trình từ nguồn yêu cầu đến kết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TestPilot kiểm tra credential và tính tương thích trước khi upload. AWS nhận app, test package và testspec, sau đó cấp thiết bị và tạo một job cho mỗi máy. TestPilot polling trạng thái rồi tải report, screenshot, video và log về lịch sử. AI chỉ hỗ trợ discovery, healing và diagnosis trong lúc chạy, còn upload, schedule và verdict do code xác định.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chọn feature, nền tảng, tag, environment và nguồn app. Preflight kiểm tra toàn bộ target trước khi mở driver. Khi chọn nhiều nền tảng, web, Android và iOS chạy đồng thời trong tiến trình riêng. Mỗi nhánh lưu dữ liệu riêng, coordinator chỉ gộp registry và learning một lần sau khi tất cả nhánh dừng.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Studio bắt đầu sớm hơn runner. Hệ thống đọc và xác thực nguồn, AI phân tích yêu cầu và ảnh màn hình, cập nhật registry, sinh testcase rồi chuẩn hoá action. Con người review tại một cổng rõ ràng. Sau khi duyệt, workflow chuẩn bị môi trường, chạy các nền tảng đã chọn, healing lỗi locator theo policy và sinh report có traceability.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Cổng an toàn xử lý từng đề xuất AI theo năm điều kiện. Confidence yêu cầu điểm tin cậy vượt ngưỡng cấu hình. Ambiguity so sánh các candidate đứng đầu và dừng nếu điểm quá gần nhau. Action safety kiểm tra loại thao tác và policy trước khi cho phép side effect. Verification đọc lại UI để xác nhận label, role, khả năng hiển thị và trạng thái phù hợp. Human review nhận quyền quyết định khi dữ kiện thiếu, mức mơ hồ cao hoặc thao tác có rủi ro. Nếu đề xuất không đạt cổng, hệ thống giữ nguyên trạng thái thay vì tự động thực hiện.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Đừng chọn runner theo thói quen. Nếu câu hỏi là độ phủ thiết bị, dùng Device Farm. Nếu cần tìm và sửa lỗi nhanh, dùng Local Runner. Nếu cần biến tài liệu thành một quy trình có review và traceability, dùng App Studio. Ba luồng có thể nối tiếp trong cùng vòng đời.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Chốt lại: App Studio giúp tạo và review coverage, Local Runner giúp suite ổn định nhanh, Device Farm xác nhận độ phủ trên thiết bị thật. AI hỗ trợ những bước cần hiểu ngữ nghĩa, hình ảnh và nguyên nhân lỗi. Code, policy và cổng review giữ hệ thống có thể kiểm soát và truy vết.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c48a55389b44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230b1b812d420d" /><Relationship Type="http://schemas.openxmlformats.org/officeDocument/2006/relationships/slideLayout" Target="/ppt/slideLayouts/slideLayout1.xml" Id="R630a9be1a09646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0a9be1a09646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2ca8fe4ee744a02" /><Relationship Type="http://schemas.openxmlformats.org/officeDocument/2006/relationships/notesSlide" Target="/ppt/notesSlides/notesSlide1.xml" Id="Rc10497147cab42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2e96210b914fb9" /><Relationship Type="http://schemas.openxmlformats.org/officeDocument/2006/relationships/notesSlide" Target="/ppt/notesSlides/notesSlide2.xml" Id="R5359f0b1a6324b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7d04ed814104325" /><Relationship Type="http://schemas.openxmlformats.org/officeDocument/2006/relationships/notesSlide" Target="/ppt/notesSlides/notesSlide3.xml" Id="Rcc6e0916750948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1f706f45174ff5" /><Relationship Type="http://schemas.openxmlformats.org/officeDocument/2006/relationships/notesSlide" Target="/ppt/notesSlides/notesSlide4.xml" Id="Reaebbdd07c4e4d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ad5b5e69d743cb" /><Relationship Type="http://schemas.openxmlformats.org/officeDocument/2006/relationships/notesSlide" Target="/ppt/notesSlides/notesSlide5.xml" Id="R547955bdfa8d4a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6f7136a0c740a9" /><Relationship Type="http://schemas.openxmlformats.org/officeDocument/2006/relationships/notesSlide" Target="/ppt/notesSlides/notesSlide6.xml" Id="Rbda0ce7e242146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24493596bde4344" /><Relationship Type="http://schemas.openxmlformats.org/officeDocument/2006/relationships/notesSlide" Target="/ppt/notesSlides/notesSlide7.xml" Id="R4361441a874b49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29b2fdb27a64701" /><Relationship Type="http://schemas.openxmlformats.org/officeDocument/2006/relationships/notesSlide" Target="/ppt/notesSlides/notesSlide8.xml" Id="R63b7242985494070"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0F0553E-CC83-4878-8E48-2EFB98626126}"/>
              </a:ext>
            </a:extLst>
          </p:cNvPr>
          <p:cNvSpPr>
            <a:spLocks xmlns:a="http://schemas.openxmlformats.org/drawingml/2006/main" noGrp="1"/>
          </p:cNvSpPr>
          <p:nvPr/>
        </p:nvSpPr>
        <p:spPr>
          <a:xfrm xmlns:a="http://schemas.openxmlformats.org/drawingml/2006/main">
            <a:off x="685800" y="762000"/>
            <a:ext cx="114300" cy="4095750"/>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F1BB67C-9DFF-4B1F-8DBA-B3C0D755392C}"/>
              </a:ext>
            </a:extLst>
          </p:cNvPr>
          <p:cNvSpPr>
            <a:spLocks xmlns:a="http://schemas.openxmlformats.org/drawingml/2006/main" noGrp="1"/>
          </p:cNvSpPr>
          <p:nvPr/>
        </p:nvSpPr>
        <p:spPr>
          <a:xfrm xmlns:a="http://schemas.openxmlformats.org/drawingml/2006/main">
            <a:off x="1095375" y="876300"/>
            <a:ext cx="571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9FC9D6"/>
                </a:solidFill>
                <a:latin typeface="Arial"/>
                <a:ea typeface="Arial"/>
                <a:cs typeface="Arial"/>
              </a:defRPr>
            </a:pPr>
            <a:r>
              <a:rPr sz="1875" b="1">
                <a:solidFill>
                  <a:srgbClr val="9FC9D6"/>
                </a:solidFill>
                <a:latin typeface="Arial"/>
                <a:ea typeface="Arial"/>
                <a:cs typeface="Arial"/>
              </a:rPr>
              <a:t>TestPilot</a:t>
            </a:r>
          </a:p>
        </p:txBody>
      </p:sp>
      <p:sp>
        <p:nvSpPr>
          <p:cNvPr id="3" name="">
            <a:extLst xmlns:a="http://schemas.openxmlformats.org/drawingml/2006/main">
              <a:ext uri="{FF2B5EF4-FFF2-40B4-BE49-F238E27FC236}">
                <a16:creationId xmlns:a16="http://schemas.microsoft.com/office/drawing/2014/main" id="{B9BEC9ED-0429-478A-9F49-2EF8D655223C}"/>
              </a:ext>
            </a:extLst>
          </p:cNvPr>
          <p:cNvSpPr>
            <a:spLocks xmlns:a="http://schemas.openxmlformats.org/drawingml/2006/main" noGrp="1"/>
          </p:cNvSpPr>
          <p:nvPr/>
        </p:nvSpPr>
        <p:spPr>
          <a:xfrm xmlns:a="http://schemas.openxmlformats.org/drawingml/2006/main">
            <a:off x="1095375" y="1476375"/>
            <a:ext cx="85725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Một kịch bản</a:t>
            </a:r>
          </a:p>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Ba cách vận hành</a:t>
            </a:r>
          </a:p>
        </p:txBody>
      </p:sp>
      <p:sp>
        <p:nvSpPr>
          <p:cNvPr id="4" name="">
            <a:extLst xmlns:a="http://schemas.openxmlformats.org/drawingml/2006/main">
              <a:ext uri="{FF2B5EF4-FFF2-40B4-BE49-F238E27FC236}">
                <a16:creationId xmlns:a16="http://schemas.microsoft.com/office/drawing/2014/main" id="{8AFB3C64-3303-47FB-AE54-278D4A3C847D}"/>
              </a:ext>
            </a:extLst>
          </p:cNvPr>
          <p:cNvSpPr>
            <a:spLocks xmlns:a="http://schemas.openxmlformats.org/drawingml/2006/main" noGrp="1"/>
          </p:cNvSpPr>
          <p:nvPr/>
        </p:nvSpPr>
        <p:spPr>
          <a:xfrm xmlns:a="http://schemas.openxmlformats.org/drawingml/2006/main">
            <a:off x="1123950" y="3524250"/>
            <a:ext cx="962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C8D8E3"/>
                </a:solidFill>
                <a:latin typeface="Arial"/>
                <a:ea typeface="Arial"/>
                <a:cs typeface="Arial"/>
              </a:defRPr>
            </a:pPr>
            <a:r>
              <a:rPr sz="1875" b="0">
                <a:solidFill>
                  <a:srgbClr val="C8D8E3"/>
                </a:solidFill>
                <a:latin typeface="Arial"/>
                <a:ea typeface="Arial"/>
                <a:cs typeface="Arial"/>
              </a:rPr>
              <a:t>Device Farm Runner   Local Runner   App Studio Workflow</a:t>
            </a:r>
          </a:p>
        </p:txBody>
      </p:sp>
      <p:sp>
        <p:nvSpPr>
          <p:cNvPr id="5" name="">
            <a:extLst xmlns:a="http://schemas.openxmlformats.org/drawingml/2006/main">
              <a:ext uri="{FF2B5EF4-FFF2-40B4-BE49-F238E27FC236}">
                <a16:creationId xmlns:a16="http://schemas.microsoft.com/office/drawing/2014/main" id="{CC7DBE0C-878F-47AB-BD1E-98FC663EB5FE}"/>
              </a:ext>
            </a:extLst>
          </p:cNvPr>
          <p:cNvSpPr>
            <a:spLocks xmlns:a="http://schemas.openxmlformats.org/drawingml/2006/main" noGrp="1"/>
          </p:cNvSpPr>
          <p:nvPr/>
        </p:nvSpPr>
        <p:spPr>
          <a:xfrm xmlns:a="http://schemas.openxmlformats.org/drawingml/2006/main">
            <a:off x="1123950" y="4238625"/>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Từ độ phủ thiết bị đến tự động hoá toàn bộ vòng đời kiểm thử</a:t>
            </a:r>
          </a:p>
        </p:txBody>
      </p:sp>
      <p:sp>
        <p:nvSpPr>
          <p:cNvPr id="6" name="">
            <a:extLst xmlns:a="http://schemas.openxmlformats.org/drawingml/2006/main">
              <a:ext uri="{FF2B5EF4-FFF2-40B4-BE49-F238E27FC236}">
                <a16:creationId xmlns:a16="http://schemas.microsoft.com/office/drawing/2014/main" id="{CAFA7291-A5CE-4B53-89E3-80D624C73E21}"/>
              </a:ext>
            </a:extLst>
          </p:cNvPr>
          <p:cNvSpPr>
            <a:spLocks xmlns:a="http://schemas.openxmlformats.org/drawingml/2006/main" noGrp="1"/>
          </p:cNvSpPr>
          <p:nvPr/>
        </p:nvSpPr>
        <p:spPr>
          <a:xfrm xmlns:a="http://schemas.openxmlformats.org/drawingml/2006/main">
            <a:off x="8763000" y="1143000"/>
            <a:ext cx="2000250" cy="904875"/>
          </a:xfrm>
          <a:prstGeom xmlns:a="http://schemas.openxmlformats.org/drawingml/2006/main" prst="ellipse">
            <a:avLst/>
          </a:prstGeom>
          <a:solidFill xmlns:a="http://schemas.openxmlformats.org/drawingml/2006/main">
            <a:srgbClr val="DFF3F6"/>
          </a:solidFill>
          <a:ln xmlns:a="http://schemas.openxmlformats.org/drawingml/2006/main" w="19050">
            <a:solidFill>
              <a:srgbClr val="DFF3F6"/>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82431"/>
                </a:solidFill>
                <a:latin typeface="Arial"/>
                <a:ea typeface="Arial"/>
                <a:cs typeface="Arial"/>
              </a:defRPr>
            </a:pPr>
            <a:r>
              <a:rPr sz="1950" b="1">
                <a:solidFill>
                  <a:srgbClr val="182431"/>
                </a:solidFill>
                <a:latin typeface="Arial"/>
                <a:ea typeface="Arial"/>
                <a:cs typeface="Arial"/>
              </a:rPr>
              <a:t>CLOUD</a:t>
            </a:r>
          </a:p>
        </p:txBody>
      </p:sp>
      <p:sp>
        <p:nvSpPr>
          <p:cNvPr id="7" name="">
            <a:extLst xmlns:a="http://schemas.openxmlformats.org/drawingml/2006/main">
              <a:ext uri="{FF2B5EF4-FFF2-40B4-BE49-F238E27FC236}">
                <a16:creationId xmlns:a16="http://schemas.microsoft.com/office/drawing/2014/main" id="{84636949-A03D-4D00-80DD-F2575203B558}"/>
              </a:ext>
            </a:extLst>
          </p:cNvPr>
          <p:cNvSpPr>
            <a:spLocks xmlns:a="http://schemas.openxmlformats.org/drawingml/2006/main" noGrp="1"/>
          </p:cNvSpPr>
          <p:nvPr/>
        </p:nvSpPr>
        <p:spPr>
          <a:xfrm xmlns:a="http://schemas.openxmlformats.org/drawingml/2006/main">
            <a:off x="8001000" y="2590800"/>
            <a:ext cx="2000250" cy="904875"/>
          </a:xfrm>
          <a:prstGeom xmlns:a="http://schemas.openxmlformats.org/drawingml/2006/main" prst="ellipse">
            <a:avLst/>
          </a:prstGeom>
          <a:solidFill xmlns:a="http://schemas.openxmlformats.org/drawingml/2006/main">
            <a:srgbClr val="DDEFE7"/>
          </a:solidFill>
          <a:ln xmlns:a="http://schemas.openxmlformats.org/drawingml/2006/main" w="19050">
            <a:solidFill>
              <a:srgbClr val="DDEFE7"/>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82431"/>
                </a:solidFill>
                <a:latin typeface="Arial"/>
                <a:ea typeface="Arial"/>
                <a:cs typeface="Arial"/>
              </a:defRPr>
            </a:pPr>
            <a:r>
              <a:rPr sz="1950" b="1">
                <a:solidFill>
                  <a:srgbClr val="182431"/>
                </a:solidFill>
                <a:latin typeface="Arial"/>
                <a:ea typeface="Arial"/>
                <a:cs typeface="Arial"/>
              </a:rPr>
              <a:t>LOCAL</a:t>
            </a:r>
          </a:p>
        </p:txBody>
      </p:sp>
      <p:sp>
        <p:nvSpPr>
          <p:cNvPr id="8" name="">
            <a:extLst xmlns:a="http://schemas.openxmlformats.org/drawingml/2006/main">
              <a:ext uri="{FF2B5EF4-FFF2-40B4-BE49-F238E27FC236}">
                <a16:creationId xmlns:a16="http://schemas.microsoft.com/office/drawing/2014/main" id="{DE64B6BB-AD9C-4A2C-9719-C7267CC1ABA4}"/>
              </a:ext>
            </a:extLst>
          </p:cNvPr>
          <p:cNvSpPr>
            <a:spLocks xmlns:a="http://schemas.openxmlformats.org/drawingml/2006/main" noGrp="1"/>
          </p:cNvSpPr>
          <p:nvPr/>
        </p:nvSpPr>
        <p:spPr>
          <a:xfrm xmlns:a="http://schemas.openxmlformats.org/drawingml/2006/main">
            <a:off x="9334500" y="4038600"/>
            <a:ext cx="2000250" cy="904875"/>
          </a:xfrm>
          <a:prstGeom xmlns:a="http://schemas.openxmlformats.org/drawingml/2006/main" prst="ellipse">
            <a:avLst/>
          </a:prstGeom>
          <a:solidFill xmlns:a="http://schemas.openxmlformats.org/drawingml/2006/main">
            <a:srgbClr val="FFF2D5"/>
          </a:solidFill>
          <a:ln xmlns:a="http://schemas.openxmlformats.org/drawingml/2006/main" w="19050">
            <a:solidFill>
              <a:srgbClr val="FFF2D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82431"/>
                </a:solidFill>
                <a:latin typeface="Arial"/>
                <a:ea typeface="Arial"/>
                <a:cs typeface="Arial"/>
              </a:defRPr>
            </a:pPr>
            <a:r>
              <a:rPr sz="1950" b="1">
                <a:solidFill>
                  <a:srgbClr val="182431"/>
                </a:solidFill>
                <a:latin typeface="Arial"/>
                <a:ea typeface="Arial"/>
                <a:cs typeface="Arial"/>
              </a:rPr>
              <a:t>STUDIO</a:t>
            </a:r>
          </a:p>
        </p:txBody>
      </p:sp>
    </p:spTree>
    <p:extLst>
      <p:ext uri="{BB962C8B-B14F-4D97-AF65-F5344CB8AC3E}">
        <p14:creationId xmlns:p14="http://schemas.microsoft.com/office/powerpoint/2010/main" val="103212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DD85A1F-525E-42F8-ABD8-1B867119FB03}"/>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BỨC TRANH TỔNG THỂ</a:t>
            </a:r>
          </a:p>
        </p:txBody>
      </p:sp>
      <p:sp>
        <p:nvSpPr>
          <p:cNvPr id="2" name="">
            <a:extLst xmlns:a="http://schemas.openxmlformats.org/drawingml/2006/main">
              <a:ext uri="{FF2B5EF4-FFF2-40B4-BE49-F238E27FC236}">
                <a16:creationId xmlns:a16="http://schemas.microsoft.com/office/drawing/2014/main" id="{7DACFE3A-B7CA-45DE-A0A1-8E03F16C6052}"/>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Một feature, ba mục tiêu kiểm thử</a:t>
            </a:r>
          </a:p>
        </p:txBody>
      </p:sp>
      <p:sp>
        <p:nvSpPr>
          <p:cNvPr id="3" name="">
            <a:extLst xmlns:a="http://schemas.openxmlformats.org/drawingml/2006/main">
              <a:ext uri="{FF2B5EF4-FFF2-40B4-BE49-F238E27FC236}">
                <a16:creationId xmlns:a16="http://schemas.microsoft.com/office/drawing/2014/main" id="{EAED681D-43F3-454F-A654-553A673E9FBE}"/>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627DAAE-3391-4323-85FB-1B55988F1193}"/>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0BDE1CE1-FD98-4ACF-B250-51DE86700864}"/>
              </a:ext>
            </a:extLst>
          </p:cNvPr>
          <p:cNvSpPr>
            <a:spLocks xmlns:a="http://schemas.openxmlformats.org/drawingml/2006/main" noGrp="1"/>
          </p:cNvSpPr>
          <p:nvPr/>
        </p:nvSpPr>
        <p:spPr>
          <a:xfrm xmlns:a="http://schemas.openxmlformats.org/drawingml/2006/main">
            <a:off x="1047750" y="2457450"/>
            <a:ext cx="323850" cy="323850"/>
          </a:xfrm>
          <a:prstGeom xmlns:a="http://schemas.openxmlformats.org/drawingml/2006/main" prst="ellipse">
            <a:avLst/>
          </a:prstGeom>
          <a:solidFill xmlns:a="http://schemas.openxmlformats.org/drawingml/2006/main">
            <a:srgbClr val="102A43"/>
          </a:solidFill>
          <a:ln xmlns:a="http://schemas.openxmlformats.org/drawingml/2006/main" w="9525">
            <a:solidFill>
              <a:srgbClr val="102A43"/>
            </a:solidFill>
            <a:prstDash val="solid"/>
          </a:ln>
        </p:spPr>
      </p:sp>
      <p:sp>
        <p:nvSpPr>
          <p:cNvPr id="6" name="">
            <a:extLst xmlns:a="http://schemas.openxmlformats.org/drawingml/2006/main">
              <a:ext uri="{FF2B5EF4-FFF2-40B4-BE49-F238E27FC236}">
                <a16:creationId xmlns:a16="http://schemas.microsoft.com/office/drawing/2014/main" id="{DFA699A8-8347-4518-BD9F-A103D9F10584}"/>
              </a:ext>
            </a:extLst>
          </p:cNvPr>
          <p:cNvSpPr>
            <a:spLocks xmlns:a="http://schemas.openxmlformats.org/drawingml/2006/main" noGrp="1"/>
          </p:cNvSpPr>
          <p:nvPr/>
        </p:nvSpPr>
        <p:spPr>
          <a:xfrm xmlns:a="http://schemas.openxmlformats.org/drawingml/2006/main">
            <a:off x="1209675" y="2781300"/>
            <a:ext cx="0" cy="52387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7" name="">
            <a:extLst xmlns:a="http://schemas.openxmlformats.org/drawingml/2006/main">
              <a:ext uri="{FF2B5EF4-FFF2-40B4-BE49-F238E27FC236}">
                <a16:creationId xmlns:a16="http://schemas.microsoft.com/office/drawing/2014/main" id="{59A01C61-EB7D-490C-BE26-88B30ACB00B6}"/>
              </a:ext>
            </a:extLst>
          </p:cNvPr>
          <p:cNvSpPr>
            <a:spLocks xmlns:a="http://schemas.openxmlformats.org/drawingml/2006/main" noGrp="1"/>
          </p:cNvSpPr>
          <p:nvPr/>
        </p:nvSpPr>
        <p:spPr>
          <a:xfrm xmlns:a="http://schemas.openxmlformats.org/drawingml/2006/main">
            <a:off x="914400" y="2952750"/>
            <a:ext cx="590550" cy="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8" name="">
            <a:extLst xmlns:a="http://schemas.openxmlformats.org/drawingml/2006/main">
              <a:ext uri="{FF2B5EF4-FFF2-40B4-BE49-F238E27FC236}">
                <a16:creationId xmlns:a16="http://schemas.microsoft.com/office/drawing/2014/main" id="{91B6EEFD-8C45-4A2D-B77D-53F355D166BF}"/>
              </a:ext>
            </a:extLst>
          </p:cNvPr>
          <p:cNvSpPr>
            <a:spLocks xmlns:a="http://schemas.openxmlformats.org/drawingml/2006/main" noGrp="1"/>
          </p:cNvSpPr>
          <p:nvPr/>
        </p:nvSpPr>
        <p:spPr>
          <a:xfrm xmlns:a="http://schemas.openxmlformats.org/drawingml/2006/main">
            <a:off x="1047750" y="32861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9" name="">
            <a:extLst xmlns:a="http://schemas.openxmlformats.org/drawingml/2006/main">
              <a:ext uri="{FF2B5EF4-FFF2-40B4-BE49-F238E27FC236}">
                <a16:creationId xmlns:a16="http://schemas.microsoft.com/office/drawing/2014/main" id="{52CE0FED-362A-47D2-A847-13A17B4E61CA}"/>
              </a:ext>
            </a:extLst>
          </p:cNvPr>
          <p:cNvSpPr>
            <a:spLocks xmlns:a="http://schemas.openxmlformats.org/drawingml/2006/main" noGrp="1"/>
          </p:cNvSpPr>
          <p:nvPr/>
        </p:nvSpPr>
        <p:spPr>
          <a:xfrm xmlns:a="http://schemas.openxmlformats.org/drawingml/2006/main">
            <a:off x="1371600" y="32861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10" name="">
            <a:extLst xmlns:a="http://schemas.openxmlformats.org/drawingml/2006/main">
              <a:ext uri="{FF2B5EF4-FFF2-40B4-BE49-F238E27FC236}">
                <a16:creationId xmlns:a16="http://schemas.microsoft.com/office/drawing/2014/main" id="{B787BC90-D3AB-4414-BB3F-2CEEEA09BCCF}"/>
              </a:ext>
            </a:extLst>
          </p:cNvPr>
          <p:cNvSpPr>
            <a:spLocks xmlns:a="http://schemas.openxmlformats.org/drawingml/2006/main" noGrp="1"/>
          </p:cNvSpPr>
          <p:nvPr/>
        </p:nvSpPr>
        <p:spPr>
          <a:xfrm xmlns:a="http://schemas.openxmlformats.org/drawingml/2006/main">
            <a:off x="647700" y="37147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992"/>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QA / Developer</a:t>
            </a:r>
          </a:p>
        </p:txBody>
      </p:sp>
      <p:sp>
        <p:nvSpPr>
          <p:cNvPr id="11" name="">
            <a:extLst xmlns:a="http://schemas.openxmlformats.org/drawingml/2006/main">
              <a:ext uri="{FF2B5EF4-FFF2-40B4-BE49-F238E27FC236}">
                <a16:creationId xmlns:a16="http://schemas.microsoft.com/office/drawing/2014/main" id="{84AC7785-8DA4-4EF2-A2BF-A0F1EC9E5E4D}"/>
              </a:ext>
            </a:extLst>
          </p:cNvPr>
          <p:cNvSpPr>
            <a:spLocks xmlns:a="http://schemas.openxmlformats.org/drawingml/2006/main" noGrp="1"/>
          </p:cNvSpPr>
          <p:nvPr/>
        </p:nvSpPr>
        <p:spPr>
          <a:xfrm xmlns:a="http://schemas.openxmlformats.org/drawingml/2006/main">
            <a:off x="3143250" y="2457450"/>
            <a:ext cx="2476500" cy="11430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79919"/>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Kịch bản theo ý định</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Gherkin + registry</a:t>
            </a:r>
          </a:p>
        </p:txBody>
      </p:sp>
      <p:sp>
        <p:nvSpPr>
          <p:cNvPr id="12" name="">
            <a:extLst xmlns:a="http://schemas.openxmlformats.org/drawingml/2006/main">
              <a:ext uri="{FF2B5EF4-FFF2-40B4-BE49-F238E27FC236}">
                <a16:creationId xmlns:a16="http://schemas.microsoft.com/office/drawing/2014/main" id="{07F7578A-92A5-4BFE-9123-4F272931F52C}"/>
              </a:ext>
            </a:extLst>
          </p:cNvPr>
          <p:cNvSpPr>
            <a:spLocks xmlns:a="http://schemas.openxmlformats.org/drawingml/2006/main" noGrp="1"/>
          </p:cNvSpPr>
          <p:nvPr/>
        </p:nvSpPr>
        <p:spPr>
          <a:xfrm xmlns:a="http://schemas.openxmlformats.org/drawingml/2006/main">
            <a:off x="7239000" y="1476375"/>
            <a:ext cx="3143250" cy="85725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Độ phủ thiết bị thật</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Device Farm Runner</a:t>
            </a:r>
          </a:p>
        </p:txBody>
      </p:sp>
      <p:sp>
        <p:nvSpPr>
          <p:cNvPr id="13" name="">
            <a:extLst xmlns:a="http://schemas.openxmlformats.org/drawingml/2006/main">
              <a:ext uri="{FF2B5EF4-FFF2-40B4-BE49-F238E27FC236}">
                <a16:creationId xmlns:a16="http://schemas.microsoft.com/office/drawing/2014/main" id="{7CFA928C-B404-4223-AB64-1306CFD10B9D}"/>
              </a:ext>
            </a:extLst>
          </p:cNvPr>
          <p:cNvSpPr>
            <a:spLocks xmlns:a="http://schemas.openxmlformats.org/drawingml/2006/main" noGrp="1"/>
          </p:cNvSpPr>
          <p:nvPr/>
        </p:nvSpPr>
        <p:spPr>
          <a:xfrm xmlns:a="http://schemas.openxmlformats.org/drawingml/2006/main">
            <a:off x="7239000" y="2762250"/>
            <a:ext cx="3143250" cy="85725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79948"/>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Phản hồi và debug nhanh</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Local Runner</a:t>
            </a:r>
          </a:p>
        </p:txBody>
      </p:sp>
      <p:sp>
        <p:nvSpPr>
          <p:cNvPr id="14" name="">
            <a:extLst xmlns:a="http://schemas.openxmlformats.org/drawingml/2006/main">
              <a:ext uri="{FF2B5EF4-FFF2-40B4-BE49-F238E27FC236}">
                <a16:creationId xmlns:a16="http://schemas.microsoft.com/office/drawing/2014/main" id="{99977B2D-1F42-4527-BFDD-C4D5EBDAFCD7}"/>
              </a:ext>
            </a:extLst>
          </p:cNvPr>
          <p:cNvSpPr>
            <a:spLocks xmlns:a="http://schemas.openxmlformats.org/drawingml/2006/main" noGrp="1"/>
          </p:cNvSpPr>
          <p:nvPr/>
        </p:nvSpPr>
        <p:spPr>
          <a:xfrm xmlns:a="http://schemas.openxmlformats.org/drawingml/2006/main">
            <a:off x="7239000" y="4048125"/>
            <a:ext cx="3143250" cy="85725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75016"/>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Tự động hoá toàn vòng đời</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App Studio Workflow</a:t>
            </a:r>
          </a:p>
        </p:txBody>
      </p:sp>
      <p:cxnSp>
        <p:nvCxnSpPr>
          <p:cNvPr id="36" name=""/>
          <p:cNvCxnSpPr>
            <a:stCxn xmlns:a="http://schemas.openxmlformats.org/drawingml/2006/main" id="11" idx="6"/>
            <a:endCxn xmlns:a="http://schemas.openxmlformats.org/drawingml/2006/main" id="12" idx="2"/>
          </p:cNvCxnSpPr>
          <p:nvPr/>
        </p:nvCxnSpPr>
        <p:spPr>
          <a:xfrm xmlns:a="http://schemas.openxmlformats.org/drawingml/2006/main" flipV="1">
            <a:off x="5619750" y="1905000"/>
            <a:ext cx="1619250" cy="112395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7" name=""/>
          <p:cNvCxnSpPr>
            <a:stCxn xmlns:a="http://schemas.openxmlformats.org/drawingml/2006/main" id="11" idx="6"/>
            <a:endCxn xmlns:a="http://schemas.openxmlformats.org/drawingml/2006/main" id="13" idx="2"/>
          </p:cNvCxnSpPr>
          <p:nvPr/>
        </p:nvCxnSpPr>
        <p:spPr>
          <a:xfrm xmlns:a="http://schemas.openxmlformats.org/drawingml/2006/main">
            <a:off x="5619750" y="3028950"/>
            <a:ext cx="1619250" cy="16192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8" name=""/>
          <p:cNvCxnSpPr>
            <a:stCxn xmlns:a="http://schemas.openxmlformats.org/drawingml/2006/main" id="11" idx="6"/>
            <a:endCxn xmlns:a="http://schemas.openxmlformats.org/drawingml/2006/main" id="14" idx="2"/>
          </p:cNvCxnSpPr>
          <p:nvPr/>
        </p:nvCxnSpPr>
        <p:spPr>
          <a:xfrm xmlns:a="http://schemas.openxmlformats.org/drawingml/2006/main">
            <a:off x="5619750" y="3028950"/>
            <a:ext cx="1619250" cy="144780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8" name="">
            <a:extLst xmlns:a="http://schemas.openxmlformats.org/drawingml/2006/main">
              <a:ext uri="{FF2B5EF4-FFF2-40B4-BE49-F238E27FC236}">
                <a16:creationId xmlns:a16="http://schemas.microsoft.com/office/drawing/2014/main" id="{A04D00CA-F6FC-454A-9AB6-DCE4EB1170F1}"/>
              </a:ext>
            </a:extLst>
          </p:cNvPr>
          <p:cNvSpPr>
            <a:spLocks xmlns:a="http://schemas.openxmlformats.org/drawingml/2006/main" noGrp="1"/>
          </p:cNvSpPr>
          <p:nvPr/>
        </p:nvSpPr>
        <p:spPr>
          <a:xfrm xmlns:a="http://schemas.openxmlformats.org/drawingml/2006/main">
            <a:off x="2571750" y="5381625"/>
            <a:ext cx="8382000" cy="9525"/>
          </a:xfrm>
          <a:prstGeom xmlns:a="http://schemas.openxmlformats.org/drawingml/2006/main" prst="rect">
            <a:avLst/>
          </a:prstGeom>
          <a:solidFill xmlns:a="http://schemas.openxmlformats.org/drawingml/2006/main">
            <a:srgbClr val="B8C7D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03F6740-9936-409D-8B99-2F0ADDD33A6E}"/>
              </a:ext>
            </a:extLst>
          </p:cNvPr>
          <p:cNvSpPr>
            <a:spLocks xmlns:a="http://schemas.openxmlformats.org/drawingml/2006/main" noGrp="1"/>
          </p:cNvSpPr>
          <p:nvPr/>
        </p:nvSpPr>
        <p:spPr>
          <a:xfrm xmlns:a="http://schemas.openxmlformats.org/drawingml/2006/main">
            <a:off x="2905125" y="5638800"/>
            <a:ext cx="2381250" cy="381000"/>
          </a:xfrm>
          <a:prstGeom xmlns:a="http://schemas.openxmlformats.org/drawingml/2006/main" prst="roundRect">
            <a:avLst>
              <a:gd name="adj" fmla="val 20000"/>
            </a:avLst>
          </a:prstGeom>
          <a:solidFill xmlns:a="http://schemas.openxmlformats.org/drawingml/2006/main">
            <a:srgbClr val="F3F7F8"/>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Playwright cho web</a:t>
            </a:r>
          </a:p>
        </p:txBody>
      </p:sp>
      <p:sp>
        <p:nvSpPr>
          <p:cNvPr id="20" name="">
            <a:extLst xmlns:a="http://schemas.openxmlformats.org/drawingml/2006/main">
              <a:ext uri="{FF2B5EF4-FFF2-40B4-BE49-F238E27FC236}">
                <a16:creationId xmlns:a16="http://schemas.microsoft.com/office/drawing/2014/main" id="{AFB36B14-F2C0-476D-85DF-0A1F2B757249}"/>
              </a:ext>
            </a:extLst>
          </p:cNvPr>
          <p:cNvSpPr>
            <a:spLocks xmlns:a="http://schemas.openxmlformats.org/drawingml/2006/main" noGrp="1"/>
          </p:cNvSpPr>
          <p:nvPr/>
        </p:nvSpPr>
        <p:spPr>
          <a:xfrm xmlns:a="http://schemas.openxmlformats.org/drawingml/2006/main">
            <a:off x="5476875" y="5638800"/>
            <a:ext cx="3143250" cy="381000"/>
          </a:xfrm>
          <a:prstGeom xmlns:a="http://schemas.openxmlformats.org/drawingml/2006/main" prst="roundRect">
            <a:avLst>
              <a:gd name="adj" fmla="val 20000"/>
            </a:avLst>
          </a:prstGeom>
          <a:solidFill xmlns:a="http://schemas.openxmlformats.org/drawingml/2006/main">
            <a:srgbClr val="F3F7F8"/>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Appium cho Android và iOS</a:t>
            </a:r>
          </a:p>
        </p:txBody>
      </p:sp>
      <p:sp>
        <p:nvSpPr>
          <p:cNvPr id="21" name="">
            <a:extLst xmlns:a="http://schemas.openxmlformats.org/drawingml/2006/main">
              <a:ext uri="{FF2B5EF4-FFF2-40B4-BE49-F238E27FC236}">
                <a16:creationId xmlns:a16="http://schemas.microsoft.com/office/drawing/2014/main" id="{2EE8AC47-07D4-4BF6-9BB5-F49CFA094CB5}"/>
              </a:ext>
            </a:extLst>
          </p:cNvPr>
          <p:cNvSpPr>
            <a:spLocks xmlns:a="http://schemas.openxmlformats.org/drawingml/2006/main" noGrp="1"/>
          </p:cNvSpPr>
          <p:nvPr/>
        </p:nvSpPr>
        <p:spPr>
          <a:xfrm xmlns:a="http://schemas.openxmlformats.org/drawingml/2006/main">
            <a:off x="8810625" y="5638800"/>
            <a:ext cx="2571750" cy="381000"/>
          </a:xfrm>
          <a:prstGeom xmlns:a="http://schemas.openxmlformats.org/drawingml/2006/main" prst="roundRect">
            <a:avLst>
              <a:gd name="adj" fmla="val 20000"/>
            </a:avLst>
          </a:prstGeom>
          <a:solidFill xmlns:a="http://schemas.openxmlformats.org/drawingml/2006/main">
            <a:srgbClr val="F3F7F8"/>
          </a:solidFill>
          <a:ln xmlns:a="http://schemas.openxmlformats.org/drawingml/2006/main" w="0">
            <a:noFill/>
            <a:prstDash val="solid"/>
          </a:ln>
        </p:spPr>
        <p:txBody>
          <a:bodyPr xmlns:a="http://schemas.openxmlformats.org/drawingml/2006/main" anchor="ctr">
            <a:normAutofit fontScale="90197"/>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Report và evidence dùng chung</a:t>
            </a:r>
          </a:p>
        </p:txBody>
      </p:sp>
    </p:spTree>
    <p:extLst>
      <p:ext uri="{BB962C8B-B14F-4D97-AF65-F5344CB8AC3E}">
        <p14:creationId xmlns:p14="http://schemas.microsoft.com/office/powerpoint/2010/main" val="15999979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D0169D0-81DB-4285-923C-CD0228E178BF}"/>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ĐỘ PHỦ TRÊN THIẾT BỊ THẬT</a:t>
            </a:r>
          </a:p>
        </p:txBody>
      </p:sp>
      <p:sp>
        <p:nvSpPr>
          <p:cNvPr id="2" name="">
            <a:extLst xmlns:a="http://schemas.openxmlformats.org/drawingml/2006/main">
              <a:ext uri="{FF2B5EF4-FFF2-40B4-BE49-F238E27FC236}">
                <a16:creationId xmlns:a16="http://schemas.microsoft.com/office/drawing/2014/main" id="{83D05A45-9413-4FE7-9AFC-413CBE1A19E3}"/>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Device Farm Runner</a:t>
            </a:r>
          </a:p>
        </p:txBody>
      </p:sp>
      <p:sp>
        <p:nvSpPr>
          <p:cNvPr id="3" name="">
            <a:extLst xmlns:a="http://schemas.openxmlformats.org/drawingml/2006/main">
              <a:ext uri="{FF2B5EF4-FFF2-40B4-BE49-F238E27FC236}">
                <a16:creationId xmlns:a16="http://schemas.microsoft.com/office/drawing/2014/main" id="{569B44F9-D8B0-4BBB-B311-D165B7BAA993}"/>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5C51D9A-EC95-4CFD-9360-C7D2641E84A8}"/>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0C8601DD-F960-4BAE-957D-B61E1997EC13}"/>
              </a:ext>
            </a:extLst>
          </p:cNvPr>
          <p:cNvSpPr>
            <a:spLocks xmlns:a="http://schemas.openxmlformats.org/drawingml/2006/main" noGrp="1"/>
          </p:cNvSpPr>
          <p:nvPr/>
        </p:nvSpPr>
        <p:spPr>
          <a:xfrm xmlns:a="http://schemas.openxmlformats.org/drawingml/2006/main">
            <a:off x="800100" y="2362200"/>
            <a:ext cx="323850" cy="323850"/>
          </a:xfrm>
          <a:prstGeom xmlns:a="http://schemas.openxmlformats.org/drawingml/2006/main" prst="ellipse">
            <a:avLst/>
          </a:prstGeom>
          <a:solidFill xmlns:a="http://schemas.openxmlformats.org/drawingml/2006/main">
            <a:srgbClr val="102A43"/>
          </a:solidFill>
          <a:ln xmlns:a="http://schemas.openxmlformats.org/drawingml/2006/main" w="9525">
            <a:solidFill>
              <a:srgbClr val="102A43"/>
            </a:solidFill>
            <a:prstDash val="solid"/>
          </a:ln>
        </p:spPr>
      </p:sp>
      <p:sp>
        <p:nvSpPr>
          <p:cNvPr id="6" name="">
            <a:extLst xmlns:a="http://schemas.openxmlformats.org/drawingml/2006/main">
              <a:ext uri="{FF2B5EF4-FFF2-40B4-BE49-F238E27FC236}">
                <a16:creationId xmlns:a16="http://schemas.microsoft.com/office/drawing/2014/main" id="{92366EA5-830E-498B-ADEE-B9D100FC6FD3}"/>
              </a:ext>
            </a:extLst>
          </p:cNvPr>
          <p:cNvSpPr>
            <a:spLocks xmlns:a="http://schemas.openxmlformats.org/drawingml/2006/main" noGrp="1"/>
          </p:cNvSpPr>
          <p:nvPr/>
        </p:nvSpPr>
        <p:spPr>
          <a:xfrm xmlns:a="http://schemas.openxmlformats.org/drawingml/2006/main">
            <a:off x="962025" y="2686050"/>
            <a:ext cx="0" cy="52387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7" name="">
            <a:extLst xmlns:a="http://schemas.openxmlformats.org/drawingml/2006/main">
              <a:ext uri="{FF2B5EF4-FFF2-40B4-BE49-F238E27FC236}">
                <a16:creationId xmlns:a16="http://schemas.microsoft.com/office/drawing/2014/main" id="{217DE5D2-FE95-479C-AB90-F657EDEF9A84}"/>
              </a:ext>
            </a:extLst>
          </p:cNvPr>
          <p:cNvSpPr>
            <a:spLocks xmlns:a="http://schemas.openxmlformats.org/drawingml/2006/main" noGrp="1"/>
          </p:cNvSpPr>
          <p:nvPr/>
        </p:nvSpPr>
        <p:spPr>
          <a:xfrm xmlns:a="http://schemas.openxmlformats.org/drawingml/2006/main">
            <a:off x="666750" y="2857500"/>
            <a:ext cx="590550" cy="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8" name="">
            <a:extLst xmlns:a="http://schemas.openxmlformats.org/drawingml/2006/main">
              <a:ext uri="{FF2B5EF4-FFF2-40B4-BE49-F238E27FC236}">
                <a16:creationId xmlns:a16="http://schemas.microsoft.com/office/drawing/2014/main" id="{783B9BDB-06BA-4DD0-89C4-64ED4892E995}"/>
              </a:ext>
            </a:extLst>
          </p:cNvPr>
          <p:cNvSpPr>
            <a:spLocks xmlns:a="http://schemas.openxmlformats.org/drawingml/2006/main" noGrp="1"/>
          </p:cNvSpPr>
          <p:nvPr/>
        </p:nvSpPr>
        <p:spPr>
          <a:xfrm xmlns:a="http://schemas.openxmlformats.org/drawingml/2006/main">
            <a:off x="800100" y="319087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9" name="">
            <a:extLst xmlns:a="http://schemas.openxmlformats.org/drawingml/2006/main">
              <a:ext uri="{FF2B5EF4-FFF2-40B4-BE49-F238E27FC236}">
                <a16:creationId xmlns:a16="http://schemas.microsoft.com/office/drawing/2014/main" id="{6F91F35E-5811-482A-BEB0-E4710EBD9A9B}"/>
              </a:ext>
            </a:extLst>
          </p:cNvPr>
          <p:cNvSpPr>
            <a:spLocks xmlns:a="http://schemas.openxmlformats.org/drawingml/2006/main" noGrp="1"/>
          </p:cNvSpPr>
          <p:nvPr/>
        </p:nvSpPr>
        <p:spPr>
          <a:xfrm xmlns:a="http://schemas.openxmlformats.org/drawingml/2006/main">
            <a:off x="1123950" y="319087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10" name="">
            <a:extLst xmlns:a="http://schemas.openxmlformats.org/drawingml/2006/main">
              <a:ext uri="{FF2B5EF4-FFF2-40B4-BE49-F238E27FC236}">
                <a16:creationId xmlns:a16="http://schemas.microsoft.com/office/drawing/2014/main" id="{F63D84EE-5FA2-4FBA-BF59-1783C9617733}"/>
              </a:ext>
            </a:extLst>
          </p:cNvPr>
          <p:cNvSpPr>
            <a:spLocks xmlns:a="http://schemas.openxmlformats.org/drawingml/2006/main" noGrp="1"/>
          </p:cNvSpPr>
          <p:nvPr/>
        </p:nvSpPr>
        <p:spPr>
          <a:xfrm xmlns:a="http://schemas.openxmlformats.org/drawingml/2006/main">
            <a:off x="400050" y="36195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QA</a:t>
            </a:r>
          </a:p>
        </p:txBody>
      </p:sp>
      <p:sp>
        <p:nvSpPr>
          <p:cNvPr id="11" name="">
            <a:extLst xmlns:a="http://schemas.openxmlformats.org/drawingml/2006/main">
              <a:ext uri="{FF2B5EF4-FFF2-40B4-BE49-F238E27FC236}">
                <a16:creationId xmlns:a16="http://schemas.microsoft.com/office/drawing/2014/main" id="{03214952-076F-448A-A915-D345EE2E8B2C}"/>
              </a:ext>
            </a:extLst>
          </p:cNvPr>
          <p:cNvSpPr>
            <a:spLocks xmlns:a="http://schemas.openxmlformats.org/drawingml/2006/main" noGrp="1"/>
          </p:cNvSpPr>
          <p:nvPr/>
        </p:nvSpPr>
        <p:spPr>
          <a:xfrm xmlns:a="http://schemas.openxmlformats.org/drawingml/2006/main">
            <a:off x="2000250" y="1428750"/>
            <a:ext cx="8953500" cy="3476625"/>
          </a:xfrm>
          <a:prstGeom xmlns:a="http://schemas.openxmlformats.org/drawingml/2006/main" prst="roundRect">
            <a:avLst>
              <a:gd name="adj" fmla="val 2192"/>
            </a:avLst>
          </a:prstGeom>
          <a:solidFill xmlns:a="http://schemas.openxmlformats.org/drawingml/2006/main">
            <a:srgbClr val="F3F7F8"/>
          </a:solidFill>
          <a:ln xmlns:a="http://schemas.openxmlformats.org/drawingml/2006/main" w="9525">
            <a:solidFill>
              <a:srgbClr val="B8C7D1"/>
            </a:solidFill>
            <a:prstDash val="solid"/>
          </a:ln>
        </p:spPr>
      </p:sp>
      <p:sp>
        <p:nvSpPr>
          <p:cNvPr id="12" name="">
            <a:extLst xmlns:a="http://schemas.openxmlformats.org/drawingml/2006/main">
              <a:ext uri="{FF2B5EF4-FFF2-40B4-BE49-F238E27FC236}">
                <a16:creationId xmlns:a16="http://schemas.microsoft.com/office/drawing/2014/main" id="{CCBC27A5-EF3C-4C6F-A7A1-B383075403A9}"/>
              </a:ext>
            </a:extLst>
          </p:cNvPr>
          <p:cNvSpPr>
            <a:spLocks xmlns:a="http://schemas.openxmlformats.org/drawingml/2006/main" noGrp="1"/>
          </p:cNvSpPr>
          <p:nvPr/>
        </p:nvSpPr>
        <p:spPr>
          <a:xfrm xmlns:a="http://schemas.openxmlformats.org/drawingml/2006/main">
            <a:off x="2238375" y="15716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TESTPILOT</a:t>
            </a:r>
          </a:p>
        </p:txBody>
      </p:sp>
      <p:sp>
        <p:nvSpPr>
          <p:cNvPr id="13" name="">
            <a:extLst xmlns:a="http://schemas.openxmlformats.org/drawingml/2006/main">
              <a:ext uri="{FF2B5EF4-FFF2-40B4-BE49-F238E27FC236}">
                <a16:creationId xmlns:a16="http://schemas.microsoft.com/office/drawing/2014/main" id="{7C37E97F-40E0-45D3-832C-C9A7BBB03463}"/>
              </a:ext>
            </a:extLst>
          </p:cNvPr>
          <p:cNvSpPr>
            <a:spLocks xmlns:a="http://schemas.openxmlformats.org/drawingml/2006/main" noGrp="1"/>
          </p:cNvSpPr>
          <p:nvPr/>
        </p:nvSpPr>
        <p:spPr>
          <a:xfrm xmlns:a="http://schemas.openxmlformats.org/drawingml/2006/main">
            <a:off x="2428875" y="2190750"/>
            <a:ext cx="1809750" cy="723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91959"/>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Đóng gói</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app + test</a:t>
            </a:r>
          </a:p>
        </p:txBody>
      </p:sp>
      <p:sp>
        <p:nvSpPr>
          <p:cNvPr id="14" name="">
            <a:extLst xmlns:a="http://schemas.openxmlformats.org/drawingml/2006/main">
              <a:ext uri="{FF2B5EF4-FFF2-40B4-BE49-F238E27FC236}">
                <a16:creationId xmlns:a16="http://schemas.microsoft.com/office/drawing/2014/main" id="{6AA2E9F1-538A-42BB-A96B-FEA3D8BC0E9E}"/>
              </a:ext>
            </a:extLst>
          </p:cNvPr>
          <p:cNvSpPr>
            <a:spLocks xmlns:a="http://schemas.openxmlformats.org/drawingml/2006/main" noGrp="1"/>
          </p:cNvSpPr>
          <p:nvPr/>
        </p:nvSpPr>
        <p:spPr>
          <a:xfrm xmlns:a="http://schemas.openxmlformats.org/drawingml/2006/main">
            <a:off x="4762500" y="2190750"/>
            <a:ext cx="1809750" cy="723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69639"/>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AWS SDK</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upload + schedule</a:t>
            </a:r>
          </a:p>
        </p:txBody>
      </p:sp>
      <p:sp>
        <p:nvSpPr>
          <p:cNvPr id="15" name="">
            <a:extLst xmlns:a="http://schemas.openxmlformats.org/drawingml/2006/main">
              <a:ext uri="{FF2B5EF4-FFF2-40B4-BE49-F238E27FC236}">
                <a16:creationId xmlns:a16="http://schemas.microsoft.com/office/drawing/2014/main" id="{6E212BF6-A527-4D27-B028-D53DC775CBAD}"/>
              </a:ext>
            </a:extLst>
          </p:cNvPr>
          <p:cNvSpPr>
            <a:spLocks xmlns:a="http://schemas.openxmlformats.org/drawingml/2006/main" noGrp="1"/>
          </p:cNvSpPr>
          <p:nvPr/>
        </p:nvSpPr>
        <p:spPr>
          <a:xfrm xmlns:a="http://schemas.openxmlformats.org/drawingml/2006/main">
            <a:off x="7096125" y="2190750"/>
            <a:ext cx="1809750" cy="72390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91959"/>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Mỗi thiết bị</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là một job</a:t>
            </a:r>
          </a:p>
        </p:txBody>
      </p:sp>
      <p:sp>
        <p:nvSpPr>
          <p:cNvPr id="16" name="">
            <a:extLst xmlns:a="http://schemas.openxmlformats.org/drawingml/2006/main">
              <a:ext uri="{FF2B5EF4-FFF2-40B4-BE49-F238E27FC236}">
                <a16:creationId xmlns:a16="http://schemas.microsoft.com/office/drawing/2014/main" id="{995E994C-594F-4772-9808-8B0ABF2E7A89}"/>
              </a:ext>
            </a:extLst>
          </p:cNvPr>
          <p:cNvSpPr>
            <a:spLocks xmlns:a="http://schemas.openxmlformats.org/drawingml/2006/main" noGrp="1"/>
          </p:cNvSpPr>
          <p:nvPr/>
        </p:nvSpPr>
        <p:spPr>
          <a:xfrm xmlns:a="http://schemas.openxmlformats.org/drawingml/2006/main">
            <a:off x="9239250" y="2190750"/>
            <a:ext cx="1381125" cy="723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96798"/>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Kết quả</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AWS</a:t>
            </a:r>
          </a:p>
        </p:txBody>
      </p:sp>
      <p:cxnSp>
        <p:nvCxnSpPr>
          <p:cNvPr id="49" name=""/>
          <p:cNvCxnSpPr>
            <a:stCxn xmlns:a="http://schemas.openxmlformats.org/drawingml/2006/main" id="13" idx="6"/>
            <a:endCxn xmlns:a="http://schemas.openxmlformats.org/drawingml/2006/main" id="14" idx="2"/>
          </p:cNvCxnSpPr>
          <p:nvPr/>
        </p:nvCxnSpPr>
        <p:spPr>
          <a:xfrm xmlns:a="http://schemas.openxmlformats.org/drawingml/2006/main">
            <a:off x="4238625" y="2552700"/>
            <a:ext cx="5238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0" name=""/>
          <p:cNvCxnSpPr>
            <a:stCxn xmlns:a="http://schemas.openxmlformats.org/drawingml/2006/main" id="14" idx="6"/>
            <a:endCxn xmlns:a="http://schemas.openxmlformats.org/drawingml/2006/main" id="15" idx="2"/>
          </p:cNvCxnSpPr>
          <p:nvPr/>
        </p:nvCxnSpPr>
        <p:spPr>
          <a:xfrm xmlns:a="http://schemas.openxmlformats.org/drawingml/2006/main">
            <a:off x="6572250" y="2552700"/>
            <a:ext cx="5238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1" name=""/>
          <p:cNvCxnSpPr>
            <a:stCxn xmlns:a="http://schemas.openxmlformats.org/drawingml/2006/main" id="15" idx="6"/>
            <a:endCxn xmlns:a="http://schemas.openxmlformats.org/drawingml/2006/main" id="16" idx="2"/>
          </p:cNvCxnSpPr>
          <p:nvPr/>
        </p:nvCxnSpPr>
        <p:spPr>
          <a:xfrm xmlns:a="http://schemas.openxmlformats.org/drawingml/2006/main">
            <a:off x="8905875" y="2552700"/>
            <a:ext cx="3333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0" name="">
            <a:extLst xmlns:a="http://schemas.openxmlformats.org/drawingml/2006/main">
              <a:ext uri="{FF2B5EF4-FFF2-40B4-BE49-F238E27FC236}">
                <a16:creationId xmlns:a16="http://schemas.microsoft.com/office/drawing/2014/main" id="{9DEA66CB-FAAE-428D-8BEE-AF4B958D4E2B}"/>
              </a:ext>
            </a:extLst>
          </p:cNvPr>
          <p:cNvSpPr>
            <a:spLocks xmlns:a="http://schemas.openxmlformats.org/drawingml/2006/main" noGrp="1"/>
          </p:cNvSpPr>
          <p:nvPr/>
        </p:nvSpPr>
        <p:spPr>
          <a:xfrm xmlns:a="http://schemas.openxmlformats.org/drawingml/2006/main">
            <a:off x="4238625" y="3714750"/>
            <a:ext cx="1809750" cy="64770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84393"/>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Theo dõi trạng thái</a:t>
            </a:r>
          </a:p>
        </p:txBody>
      </p:sp>
      <p:sp>
        <p:nvSpPr>
          <p:cNvPr id="21" name="">
            <a:extLst xmlns:a="http://schemas.openxmlformats.org/drawingml/2006/main">
              <a:ext uri="{FF2B5EF4-FFF2-40B4-BE49-F238E27FC236}">
                <a16:creationId xmlns:a16="http://schemas.microsoft.com/office/drawing/2014/main" id="{255F9606-3111-4512-AABF-A7F1250AE3BD}"/>
              </a:ext>
            </a:extLst>
          </p:cNvPr>
          <p:cNvSpPr>
            <a:spLocks xmlns:a="http://schemas.openxmlformats.org/drawingml/2006/main" noGrp="1"/>
          </p:cNvSpPr>
          <p:nvPr/>
        </p:nvSpPr>
        <p:spPr>
          <a:xfrm xmlns:a="http://schemas.openxmlformats.org/drawingml/2006/main">
            <a:off x="7524750" y="3714750"/>
            <a:ext cx="2190750" cy="6477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4393"/>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Report + ảnh + video</a:t>
            </a:r>
          </a:p>
        </p:txBody>
      </p:sp>
      <p:cxnSp>
        <p:nvCxnSpPr>
          <p:cNvPr id="54" name=""/>
          <p:cNvCxnSpPr>
            <a:stCxn xmlns:a="http://schemas.openxmlformats.org/drawingml/2006/main" id="15" idx="4"/>
            <a:endCxn xmlns:a="http://schemas.openxmlformats.org/drawingml/2006/main" id="20" idx="0"/>
          </p:cNvCxnSpPr>
          <p:nvPr/>
        </p:nvCxnSpPr>
        <p:spPr>
          <a:xfrm xmlns:a="http://schemas.openxmlformats.org/drawingml/2006/main" flipH="1">
            <a:off x="5143500" y="2914650"/>
            <a:ext cx="2857500" cy="800100"/>
          </a:xfrm>
          <a:prstGeom xmlns:a="http://schemas.openxmlformats.org/drawingml/2006/main" prst="straightConnector1">
            <a:avLst/>
          </a:prstGeom>
          <a:ln xmlns:a="http://schemas.openxmlformats.org/drawingml/2006/main" w="19050">
            <a:solidFill>
              <a:srgbClr val="B8C7D1"/>
            </a:solidFill>
            <a:prstDash val="dash"/>
          </a:ln>
        </p:spPr>
      </p:cxnSp>
      <p:cxnSp>
        <p:nvCxnSpPr>
          <p:cNvPr id="55" name=""/>
          <p:cNvCxnSpPr>
            <a:stCxn xmlns:a="http://schemas.openxmlformats.org/drawingml/2006/main" id="16" idx="4"/>
            <a:endCxn xmlns:a="http://schemas.openxmlformats.org/drawingml/2006/main" id="21" idx="0"/>
          </p:cNvCxnSpPr>
          <p:nvPr/>
        </p:nvCxnSpPr>
        <p:spPr>
          <a:xfrm xmlns:a="http://schemas.openxmlformats.org/drawingml/2006/main" flipH="1">
            <a:off x="8620125" y="2914650"/>
            <a:ext cx="1309688" cy="80010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6" name=""/>
          <p:cNvCxnSpPr>
            <a:stCxn xmlns:a="http://schemas.openxmlformats.org/drawingml/2006/main" id="20" idx="6"/>
            <a:endCxn xmlns:a="http://schemas.openxmlformats.org/drawingml/2006/main" id="21" idx="2"/>
          </p:cNvCxnSpPr>
          <p:nvPr/>
        </p:nvCxnSpPr>
        <p:spPr>
          <a:xfrm xmlns:a="http://schemas.openxmlformats.org/drawingml/2006/main">
            <a:off x="6048375" y="4038600"/>
            <a:ext cx="14763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5" name="">
            <a:extLst xmlns:a="http://schemas.openxmlformats.org/drawingml/2006/main">
              <a:ext uri="{FF2B5EF4-FFF2-40B4-BE49-F238E27FC236}">
                <a16:creationId xmlns:a16="http://schemas.microsoft.com/office/drawing/2014/main" id="{5FF9A3A1-0B34-41EB-9D64-4EDAB3408E2F}"/>
              </a:ext>
            </a:extLst>
          </p:cNvPr>
          <p:cNvSpPr>
            <a:spLocks xmlns:a="http://schemas.openxmlformats.org/drawingml/2006/main" noGrp="1"/>
          </p:cNvSpPr>
          <p:nvPr/>
        </p:nvSpPr>
        <p:spPr>
          <a:xfrm xmlns:a="http://schemas.openxmlformats.org/drawingml/2006/main">
            <a:off x="685800" y="5286375"/>
            <a:ext cx="5048250" cy="628650"/>
          </a:xfrm>
          <a:prstGeom xmlns:a="http://schemas.openxmlformats.org/drawingml/2006/main" prst="roundRect">
            <a:avLst>
              <a:gd name="adj" fmla="val 12121"/>
            </a:avLst>
          </a:prstGeom>
          <a:solidFill xmlns:a="http://schemas.openxmlformats.org/drawingml/2006/main">
            <a:srgbClr val="DDEFE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E122B27-8A17-46BB-9BE0-2278705E3F7E}"/>
              </a:ext>
            </a:extLst>
          </p:cNvPr>
          <p:cNvSpPr>
            <a:spLocks xmlns:a="http://schemas.openxmlformats.org/drawingml/2006/main" noGrp="1"/>
          </p:cNvSpPr>
          <p:nvPr/>
        </p:nvSpPr>
        <p:spPr>
          <a:xfrm xmlns:a="http://schemas.openxmlformats.org/drawingml/2006/main">
            <a:off x="685800" y="5286375"/>
            <a:ext cx="66675" cy="628650"/>
          </a:xfrm>
          <a:prstGeom xmlns:a="http://schemas.openxmlformats.org/drawingml/2006/main" prst="roundRect">
            <a:avLst>
              <a:gd name="adj" fmla="val 50000"/>
            </a:avLst>
          </a:prstGeom>
          <a:solidFill xmlns:a="http://schemas.openxmlformats.org/drawingml/2006/main">
            <a:srgbClr val="19875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72A101E-DD9D-47C5-9D67-B4D93D8B2169}"/>
              </a:ext>
            </a:extLst>
          </p:cNvPr>
          <p:cNvSpPr>
            <a:spLocks xmlns:a="http://schemas.openxmlformats.org/drawingml/2006/main" noGrp="1"/>
          </p:cNvSpPr>
          <p:nvPr/>
        </p:nvSpPr>
        <p:spPr>
          <a:xfrm xmlns:a="http://schemas.openxmlformats.org/drawingml/2006/main">
            <a:off x="895350" y="53625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98754"/>
                </a:solidFill>
                <a:latin typeface="Arial"/>
                <a:ea typeface="Arial"/>
                <a:cs typeface="Arial"/>
              </a:defRPr>
            </a:pPr>
            <a:r>
              <a:rPr sz="1275" b="1">
                <a:solidFill>
                  <a:srgbClr val="198754"/>
                </a:solidFill>
                <a:latin typeface="Arial"/>
                <a:ea typeface="Arial"/>
                <a:cs typeface="Arial"/>
              </a:rPr>
              <a:t>ĐIỂM MẠNH</a:t>
            </a:r>
          </a:p>
        </p:txBody>
      </p:sp>
      <p:sp>
        <p:nvSpPr>
          <p:cNvPr id="28" name="">
            <a:extLst xmlns:a="http://schemas.openxmlformats.org/drawingml/2006/main">
              <a:ext uri="{FF2B5EF4-FFF2-40B4-BE49-F238E27FC236}">
                <a16:creationId xmlns:a16="http://schemas.microsoft.com/office/drawing/2014/main" id="{8CE30AA3-0A8A-4ED3-8E0C-E629664625FC}"/>
              </a:ext>
            </a:extLst>
          </p:cNvPr>
          <p:cNvSpPr>
            <a:spLocks xmlns:a="http://schemas.openxmlformats.org/drawingml/2006/main" noGrp="1"/>
          </p:cNvSpPr>
          <p:nvPr/>
        </p:nvSpPr>
        <p:spPr>
          <a:xfrm xmlns:a="http://schemas.openxmlformats.org/drawingml/2006/main">
            <a:off x="895350" y="5562600"/>
            <a:ext cx="4686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Không quản lý phòng máy, đa dạng model và OS</a:t>
            </a:r>
          </a:p>
        </p:txBody>
      </p:sp>
      <p:sp>
        <p:nvSpPr>
          <p:cNvPr id="29" name="">
            <a:extLst xmlns:a="http://schemas.openxmlformats.org/drawingml/2006/main">
              <a:ext uri="{FF2B5EF4-FFF2-40B4-BE49-F238E27FC236}">
                <a16:creationId xmlns:a16="http://schemas.microsoft.com/office/drawing/2014/main" id="{13916679-08C3-4306-9615-6D9F9F790D9B}"/>
              </a:ext>
            </a:extLst>
          </p:cNvPr>
          <p:cNvSpPr>
            <a:spLocks xmlns:a="http://schemas.openxmlformats.org/drawingml/2006/main" noGrp="1"/>
          </p:cNvSpPr>
          <p:nvPr/>
        </p:nvSpPr>
        <p:spPr>
          <a:xfrm xmlns:a="http://schemas.openxmlformats.org/drawingml/2006/main">
            <a:off x="5953125" y="5286375"/>
            <a:ext cx="5286375" cy="628650"/>
          </a:xfrm>
          <a:prstGeom xmlns:a="http://schemas.openxmlformats.org/drawingml/2006/main" prst="roundRect">
            <a:avLst>
              <a:gd name="adj" fmla="val 12121"/>
            </a:avLst>
          </a:prstGeom>
          <a:solidFill xmlns:a="http://schemas.openxmlformats.org/drawingml/2006/main">
            <a:srgbClr val="FBE8E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04E0401-0160-4142-8569-F17D6E18B0BF}"/>
              </a:ext>
            </a:extLst>
          </p:cNvPr>
          <p:cNvSpPr>
            <a:spLocks xmlns:a="http://schemas.openxmlformats.org/drawingml/2006/main" noGrp="1"/>
          </p:cNvSpPr>
          <p:nvPr/>
        </p:nvSpPr>
        <p:spPr>
          <a:xfrm xmlns:a="http://schemas.openxmlformats.org/drawingml/2006/main">
            <a:off x="5953125" y="5286375"/>
            <a:ext cx="66675" cy="628650"/>
          </a:xfrm>
          <a:prstGeom xmlns:a="http://schemas.openxmlformats.org/drawingml/2006/main" prst="roundRect">
            <a:avLst>
              <a:gd name="adj" fmla="val 50000"/>
            </a:avLst>
          </a:prstGeom>
          <a:solidFill xmlns:a="http://schemas.openxmlformats.org/drawingml/2006/main">
            <a:srgbClr val="D65A4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58FE656-26DC-4B61-AEFE-994713CE4BE2}"/>
              </a:ext>
            </a:extLst>
          </p:cNvPr>
          <p:cNvSpPr>
            <a:spLocks xmlns:a="http://schemas.openxmlformats.org/drawingml/2006/main" noGrp="1"/>
          </p:cNvSpPr>
          <p:nvPr/>
        </p:nvSpPr>
        <p:spPr>
          <a:xfrm xmlns:a="http://schemas.openxmlformats.org/drawingml/2006/main">
            <a:off x="6162675" y="53625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D65A4A"/>
                </a:solidFill>
                <a:latin typeface="Arial"/>
                <a:ea typeface="Arial"/>
                <a:cs typeface="Arial"/>
              </a:defRPr>
            </a:pPr>
            <a:r>
              <a:rPr sz="1275" b="1">
                <a:solidFill>
                  <a:srgbClr val="D65A4A"/>
                </a:solidFill>
                <a:latin typeface="Arial"/>
                <a:ea typeface="Arial"/>
                <a:cs typeface="Arial"/>
              </a:rPr>
              <a:t>CẦN LƯU Ý</a:t>
            </a:r>
          </a:p>
        </p:txBody>
      </p:sp>
      <p:sp>
        <p:nvSpPr>
          <p:cNvPr id="32" name="">
            <a:extLst xmlns:a="http://schemas.openxmlformats.org/drawingml/2006/main">
              <a:ext uri="{FF2B5EF4-FFF2-40B4-BE49-F238E27FC236}">
                <a16:creationId xmlns:a16="http://schemas.microsoft.com/office/drawing/2014/main" id="{C23509B4-DAFA-4341-B9E7-ACC61922CCE8}"/>
              </a:ext>
            </a:extLst>
          </p:cNvPr>
          <p:cNvSpPr>
            <a:spLocks xmlns:a="http://schemas.openxmlformats.org/drawingml/2006/main" noGrp="1"/>
          </p:cNvSpPr>
          <p:nvPr/>
        </p:nvSpPr>
        <p:spPr>
          <a:xfrm xmlns:a="http://schemas.openxmlformats.org/drawingml/2006/main">
            <a:off x="6162675" y="5562600"/>
            <a:ext cx="49244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Chi phí theo phút, có queue, credential và WebView phải sẵn sàng</a:t>
            </a:r>
          </a:p>
        </p:txBody>
      </p:sp>
    </p:spTree>
    <p:extLst>
      <p:ext uri="{BB962C8B-B14F-4D97-AF65-F5344CB8AC3E}">
        <p14:creationId xmlns:p14="http://schemas.microsoft.com/office/powerpoint/2010/main" val="20969017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35F0721-A025-4E96-BC00-B39CC35E8DCC}"/>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VÒNG LẶP PHÁT TRIỂN</a:t>
            </a:r>
          </a:p>
        </p:txBody>
      </p:sp>
      <p:sp>
        <p:nvSpPr>
          <p:cNvPr id="2" name="">
            <a:extLst xmlns:a="http://schemas.openxmlformats.org/drawingml/2006/main">
              <a:ext uri="{FF2B5EF4-FFF2-40B4-BE49-F238E27FC236}">
                <a16:creationId xmlns:a16="http://schemas.microsoft.com/office/drawing/2014/main" id="{B1B5CDC1-1CF9-4DBF-BEB7-017F478DBA45}"/>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Kịch bản và Local Runner</a:t>
            </a:r>
          </a:p>
        </p:txBody>
      </p:sp>
      <p:sp>
        <p:nvSpPr>
          <p:cNvPr id="3" name="">
            <a:extLst xmlns:a="http://schemas.openxmlformats.org/drawingml/2006/main">
              <a:ext uri="{FF2B5EF4-FFF2-40B4-BE49-F238E27FC236}">
                <a16:creationId xmlns:a16="http://schemas.microsoft.com/office/drawing/2014/main" id="{D75E6A96-BE75-4D26-A2FD-1AA8929B1791}"/>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E35C7C6-C1F1-456B-BC71-05E1CFEF2B9B}"/>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66CB29C-64F1-4C74-A6A6-D478FABB24D9}"/>
              </a:ext>
            </a:extLst>
          </p:cNvPr>
          <p:cNvSpPr>
            <a:spLocks xmlns:a="http://schemas.openxmlformats.org/drawingml/2006/main" noGrp="1"/>
          </p:cNvSpPr>
          <p:nvPr/>
        </p:nvSpPr>
        <p:spPr>
          <a:xfrm xmlns:a="http://schemas.openxmlformats.org/drawingml/2006/main">
            <a:off x="752475" y="2381250"/>
            <a:ext cx="323850" cy="323850"/>
          </a:xfrm>
          <a:prstGeom xmlns:a="http://schemas.openxmlformats.org/drawingml/2006/main" prst="ellipse">
            <a:avLst/>
          </a:prstGeom>
          <a:solidFill xmlns:a="http://schemas.openxmlformats.org/drawingml/2006/main">
            <a:srgbClr val="102A43"/>
          </a:solidFill>
          <a:ln xmlns:a="http://schemas.openxmlformats.org/drawingml/2006/main" w="9525">
            <a:solidFill>
              <a:srgbClr val="102A43"/>
            </a:solidFill>
            <a:prstDash val="solid"/>
          </a:ln>
        </p:spPr>
      </p:sp>
      <p:sp>
        <p:nvSpPr>
          <p:cNvPr id="6" name="">
            <a:extLst xmlns:a="http://schemas.openxmlformats.org/drawingml/2006/main">
              <a:ext uri="{FF2B5EF4-FFF2-40B4-BE49-F238E27FC236}">
                <a16:creationId xmlns:a16="http://schemas.microsoft.com/office/drawing/2014/main" id="{FE432CF6-67EE-4F5F-B3D4-EDBFA86C6FA9}"/>
              </a:ext>
            </a:extLst>
          </p:cNvPr>
          <p:cNvSpPr>
            <a:spLocks xmlns:a="http://schemas.openxmlformats.org/drawingml/2006/main" noGrp="1"/>
          </p:cNvSpPr>
          <p:nvPr/>
        </p:nvSpPr>
        <p:spPr>
          <a:xfrm xmlns:a="http://schemas.openxmlformats.org/drawingml/2006/main">
            <a:off x="914400" y="2705100"/>
            <a:ext cx="0" cy="52387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7" name="">
            <a:extLst xmlns:a="http://schemas.openxmlformats.org/drawingml/2006/main">
              <a:ext uri="{FF2B5EF4-FFF2-40B4-BE49-F238E27FC236}">
                <a16:creationId xmlns:a16="http://schemas.microsoft.com/office/drawing/2014/main" id="{1ED81C02-F0C9-4AB4-806C-EE6E8E3B2209}"/>
              </a:ext>
            </a:extLst>
          </p:cNvPr>
          <p:cNvSpPr>
            <a:spLocks xmlns:a="http://schemas.openxmlformats.org/drawingml/2006/main" noGrp="1"/>
          </p:cNvSpPr>
          <p:nvPr/>
        </p:nvSpPr>
        <p:spPr>
          <a:xfrm xmlns:a="http://schemas.openxmlformats.org/drawingml/2006/main">
            <a:off x="619125" y="2876550"/>
            <a:ext cx="590550" cy="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8" name="">
            <a:extLst xmlns:a="http://schemas.openxmlformats.org/drawingml/2006/main">
              <a:ext uri="{FF2B5EF4-FFF2-40B4-BE49-F238E27FC236}">
                <a16:creationId xmlns:a16="http://schemas.microsoft.com/office/drawing/2014/main" id="{3C1EA995-F20E-4252-B409-CC598FFD715A}"/>
              </a:ext>
            </a:extLst>
          </p:cNvPr>
          <p:cNvSpPr>
            <a:spLocks xmlns:a="http://schemas.openxmlformats.org/drawingml/2006/main" noGrp="1"/>
          </p:cNvSpPr>
          <p:nvPr/>
        </p:nvSpPr>
        <p:spPr>
          <a:xfrm xmlns:a="http://schemas.openxmlformats.org/drawingml/2006/main">
            <a:off x="752475" y="32099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9" name="">
            <a:extLst xmlns:a="http://schemas.openxmlformats.org/drawingml/2006/main">
              <a:ext uri="{FF2B5EF4-FFF2-40B4-BE49-F238E27FC236}">
                <a16:creationId xmlns:a16="http://schemas.microsoft.com/office/drawing/2014/main" id="{AA7A2EF4-6DB6-4B69-A2CC-B5077823599F}"/>
              </a:ext>
            </a:extLst>
          </p:cNvPr>
          <p:cNvSpPr>
            <a:spLocks xmlns:a="http://schemas.openxmlformats.org/drawingml/2006/main" noGrp="1"/>
          </p:cNvSpPr>
          <p:nvPr/>
        </p:nvSpPr>
        <p:spPr>
          <a:xfrm xmlns:a="http://schemas.openxmlformats.org/drawingml/2006/main">
            <a:off x="1076325" y="32099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10" name="">
            <a:extLst xmlns:a="http://schemas.openxmlformats.org/drawingml/2006/main">
              <a:ext uri="{FF2B5EF4-FFF2-40B4-BE49-F238E27FC236}">
                <a16:creationId xmlns:a16="http://schemas.microsoft.com/office/drawing/2014/main" id="{BC9C96DD-D196-4BA9-9311-84354644D2A7}"/>
              </a:ext>
            </a:extLst>
          </p:cNvPr>
          <p:cNvSpPr>
            <a:spLocks xmlns:a="http://schemas.openxmlformats.org/drawingml/2006/main" noGrp="1"/>
          </p:cNvSpPr>
          <p:nvPr/>
        </p:nvSpPr>
        <p:spPr>
          <a:xfrm xmlns:a="http://schemas.openxmlformats.org/drawingml/2006/main">
            <a:off x="352425" y="36385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Developer</a:t>
            </a:r>
          </a:p>
        </p:txBody>
      </p:sp>
      <p:sp>
        <p:nvSpPr>
          <p:cNvPr id="11" name="">
            <a:extLst xmlns:a="http://schemas.openxmlformats.org/drawingml/2006/main">
              <a:ext uri="{FF2B5EF4-FFF2-40B4-BE49-F238E27FC236}">
                <a16:creationId xmlns:a16="http://schemas.microsoft.com/office/drawing/2014/main" id="{F806376E-B2D1-4363-BDC7-40C4CBCAE620}"/>
              </a:ext>
            </a:extLst>
          </p:cNvPr>
          <p:cNvSpPr>
            <a:spLocks xmlns:a="http://schemas.openxmlformats.org/drawingml/2006/main" noGrp="1"/>
          </p:cNvSpPr>
          <p:nvPr/>
        </p:nvSpPr>
        <p:spPr>
          <a:xfrm xmlns:a="http://schemas.openxmlformats.org/drawingml/2006/main">
            <a:off x="2095500" y="2428875"/>
            <a:ext cx="2095500" cy="904875"/>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76158"/>
          </a:bodyPr>
          <a:lstStyle xmlns:a="http://schemas.openxmlformats.org/drawingml/2006/main"/>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Feature đã duyệt</a:t>
            </a:r>
          </a:p>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Tag + environment</a:t>
            </a:r>
          </a:p>
        </p:txBody>
      </p:sp>
      <p:sp>
        <p:nvSpPr>
          <p:cNvPr id="12" name="">
            <a:extLst xmlns:a="http://schemas.openxmlformats.org/drawingml/2006/main">
              <a:ext uri="{FF2B5EF4-FFF2-40B4-BE49-F238E27FC236}">
                <a16:creationId xmlns:a16="http://schemas.microsoft.com/office/drawing/2014/main" id="{9DE1C5E1-6B9E-402C-92BF-FA708E8B69B8}"/>
              </a:ext>
            </a:extLst>
          </p:cNvPr>
          <p:cNvSpPr>
            <a:spLocks xmlns:a="http://schemas.openxmlformats.org/drawingml/2006/main" noGrp="1"/>
          </p:cNvSpPr>
          <p:nvPr/>
        </p:nvSpPr>
        <p:spPr>
          <a:xfrm xmlns:a="http://schemas.openxmlformats.org/drawingml/2006/main">
            <a:off x="4810125" y="2428875"/>
            <a:ext cx="1714500" cy="904875"/>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90645"/>
          </a:bodyPr>
          <a:lstStyle xmlns:a="http://schemas.openxmlformats.org/drawingml/2006/main"/>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Preflight</a:t>
            </a:r>
          </a:p>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tất cả target</a:t>
            </a:r>
          </a:p>
        </p:txBody>
      </p:sp>
      <p:cxnSp>
        <p:nvCxnSpPr>
          <p:cNvPr id="44" name=""/>
          <p:cNvCxnSpPr>
            <a:stCxn xmlns:a="http://schemas.openxmlformats.org/drawingml/2006/main" id="11" idx="6"/>
            <a:endCxn xmlns:a="http://schemas.openxmlformats.org/drawingml/2006/main" id="12" idx="2"/>
          </p:cNvCxnSpPr>
          <p:nvPr/>
        </p:nvCxnSpPr>
        <p:spPr>
          <a:xfrm xmlns:a="http://schemas.openxmlformats.org/drawingml/2006/main">
            <a:off x="4191000" y="2881313"/>
            <a:ext cx="61912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4" name="">
            <a:extLst xmlns:a="http://schemas.openxmlformats.org/drawingml/2006/main">
              <a:ext uri="{FF2B5EF4-FFF2-40B4-BE49-F238E27FC236}">
                <a16:creationId xmlns:a16="http://schemas.microsoft.com/office/drawing/2014/main" id="{B6271768-EBB1-4E56-A587-C4A51FB887D2}"/>
              </a:ext>
            </a:extLst>
          </p:cNvPr>
          <p:cNvSpPr>
            <a:spLocks xmlns:a="http://schemas.openxmlformats.org/drawingml/2006/main" noGrp="1"/>
          </p:cNvSpPr>
          <p:nvPr/>
        </p:nvSpPr>
        <p:spPr>
          <a:xfrm xmlns:a="http://schemas.openxmlformats.org/drawingml/2006/main">
            <a:off x="7477125" y="1476375"/>
            <a:ext cx="2000250" cy="68580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86066"/>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Web</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Playwright</a:t>
            </a:r>
          </a:p>
        </p:txBody>
      </p:sp>
      <p:sp>
        <p:nvSpPr>
          <p:cNvPr id="15" name="">
            <a:extLst xmlns:a="http://schemas.openxmlformats.org/drawingml/2006/main">
              <a:ext uri="{FF2B5EF4-FFF2-40B4-BE49-F238E27FC236}">
                <a16:creationId xmlns:a16="http://schemas.microsoft.com/office/drawing/2014/main" id="{6D07CF7C-3DEA-448F-966A-0D449053E5F3}"/>
              </a:ext>
            </a:extLst>
          </p:cNvPr>
          <p:cNvSpPr>
            <a:spLocks xmlns:a="http://schemas.openxmlformats.org/drawingml/2006/main" noGrp="1"/>
          </p:cNvSpPr>
          <p:nvPr/>
        </p:nvSpPr>
        <p:spPr>
          <a:xfrm xmlns:a="http://schemas.openxmlformats.org/drawingml/2006/main">
            <a:off x="7477125" y="2571750"/>
            <a:ext cx="2000250" cy="6858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6066"/>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Android</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Appium</a:t>
            </a:r>
          </a:p>
        </p:txBody>
      </p:sp>
      <p:sp>
        <p:nvSpPr>
          <p:cNvPr id="16" name="">
            <a:extLst xmlns:a="http://schemas.openxmlformats.org/drawingml/2006/main">
              <a:ext uri="{FF2B5EF4-FFF2-40B4-BE49-F238E27FC236}">
                <a16:creationId xmlns:a16="http://schemas.microsoft.com/office/drawing/2014/main" id="{E2248B25-5C66-40C4-89AC-A308F4F98995}"/>
              </a:ext>
            </a:extLst>
          </p:cNvPr>
          <p:cNvSpPr>
            <a:spLocks xmlns:a="http://schemas.openxmlformats.org/drawingml/2006/main" noGrp="1"/>
          </p:cNvSpPr>
          <p:nvPr/>
        </p:nvSpPr>
        <p:spPr>
          <a:xfrm xmlns:a="http://schemas.openxmlformats.org/drawingml/2006/main">
            <a:off x="7477125" y="3667125"/>
            <a:ext cx="2000250" cy="68580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86066"/>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iOS</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Appium</a:t>
            </a:r>
          </a:p>
        </p:txBody>
      </p:sp>
      <p:cxnSp>
        <p:nvCxnSpPr>
          <p:cNvPr id="48" name=""/>
          <p:cNvCxnSpPr>
            <a:stCxn xmlns:a="http://schemas.openxmlformats.org/drawingml/2006/main" id="12" idx="6"/>
            <a:endCxn xmlns:a="http://schemas.openxmlformats.org/drawingml/2006/main" id="14" idx="2"/>
          </p:cNvCxnSpPr>
          <p:nvPr/>
        </p:nvCxnSpPr>
        <p:spPr>
          <a:xfrm xmlns:a="http://schemas.openxmlformats.org/drawingml/2006/main" flipV="1">
            <a:off x="6524625" y="1819275"/>
            <a:ext cx="952500" cy="1062038"/>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49" name=""/>
          <p:cNvCxnSpPr>
            <a:stCxn xmlns:a="http://schemas.openxmlformats.org/drawingml/2006/main" id="12" idx="6"/>
            <a:endCxn xmlns:a="http://schemas.openxmlformats.org/drawingml/2006/main" id="15" idx="2"/>
          </p:cNvCxnSpPr>
          <p:nvPr/>
        </p:nvCxnSpPr>
        <p:spPr>
          <a:xfrm xmlns:a="http://schemas.openxmlformats.org/drawingml/2006/main">
            <a:off x="6524625" y="2881313"/>
            <a:ext cx="952500" cy="33338"/>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0" name=""/>
          <p:cNvCxnSpPr>
            <a:stCxn xmlns:a="http://schemas.openxmlformats.org/drawingml/2006/main" id="12" idx="6"/>
            <a:endCxn xmlns:a="http://schemas.openxmlformats.org/drawingml/2006/main" id="16" idx="2"/>
          </p:cNvCxnSpPr>
          <p:nvPr/>
        </p:nvCxnSpPr>
        <p:spPr>
          <a:xfrm xmlns:a="http://schemas.openxmlformats.org/drawingml/2006/main">
            <a:off x="6524625" y="2881313"/>
            <a:ext cx="952500" cy="1128713"/>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0" name="">
            <a:extLst xmlns:a="http://schemas.openxmlformats.org/drawingml/2006/main">
              <a:ext uri="{FF2B5EF4-FFF2-40B4-BE49-F238E27FC236}">
                <a16:creationId xmlns:a16="http://schemas.microsoft.com/office/drawing/2014/main" id="{19EFD217-24C9-475D-B24D-29EF3D8FE18B}"/>
              </a:ext>
            </a:extLst>
          </p:cNvPr>
          <p:cNvSpPr>
            <a:spLocks xmlns:a="http://schemas.openxmlformats.org/drawingml/2006/main" noGrp="1"/>
          </p:cNvSpPr>
          <p:nvPr/>
        </p:nvSpPr>
        <p:spPr>
          <a:xfrm xmlns:a="http://schemas.openxmlformats.org/drawingml/2006/main">
            <a:off x="9906000" y="2571750"/>
            <a:ext cx="1619250" cy="7620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81950"/>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Gộp một lần</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Report chung</a:t>
            </a:r>
          </a:p>
        </p:txBody>
      </p:sp>
      <p:cxnSp>
        <p:nvCxnSpPr>
          <p:cNvPr id="52" name=""/>
          <p:cNvCxnSpPr>
            <a:stCxn xmlns:a="http://schemas.openxmlformats.org/drawingml/2006/main" id="14" idx="6"/>
            <a:endCxn xmlns:a="http://schemas.openxmlformats.org/drawingml/2006/main" id="20" idx="2"/>
          </p:cNvCxnSpPr>
          <p:nvPr/>
        </p:nvCxnSpPr>
        <p:spPr>
          <a:xfrm xmlns:a="http://schemas.openxmlformats.org/drawingml/2006/main">
            <a:off x="9477375" y="1819275"/>
            <a:ext cx="428625" cy="11334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3" name=""/>
          <p:cNvCxnSpPr>
            <a:stCxn xmlns:a="http://schemas.openxmlformats.org/drawingml/2006/main" id="15" idx="6"/>
            <a:endCxn xmlns:a="http://schemas.openxmlformats.org/drawingml/2006/main" id="20" idx="2"/>
          </p:cNvCxnSpPr>
          <p:nvPr/>
        </p:nvCxnSpPr>
        <p:spPr>
          <a:xfrm xmlns:a="http://schemas.openxmlformats.org/drawingml/2006/main">
            <a:off x="9477375" y="2914650"/>
            <a:ext cx="428625" cy="3810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4" name=""/>
          <p:cNvCxnSpPr>
            <a:stCxn xmlns:a="http://schemas.openxmlformats.org/drawingml/2006/main" id="16" idx="6"/>
            <a:endCxn xmlns:a="http://schemas.openxmlformats.org/drawingml/2006/main" id="20" idx="2"/>
          </p:cNvCxnSpPr>
          <p:nvPr/>
        </p:nvCxnSpPr>
        <p:spPr>
          <a:xfrm xmlns:a="http://schemas.openxmlformats.org/drawingml/2006/main" flipV="1">
            <a:off x="9477375" y="2952750"/>
            <a:ext cx="428625" cy="10572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4" name="">
            <a:extLst xmlns:a="http://schemas.openxmlformats.org/drawingml/2006/main">
              <a:ext uri="{FF2B5EF4-FFF2-40B4-BE49-F238E27FC236}">
                <a16:creationId xmlns:a16="http://schemas.microsoft.com/office/drawing/2014/main" id="{E80A9DA3-83A7-458A-B6AA-B46C650B7999}"/>
              </a:ext>
            </a:extLst>
          </p:cNvPr>
          <p:cNvSpPr>
            <a:spLocks xmlns:a="http://schemas.openxmlformats.org/drawingml/2006/main" noGrp="1"/>
          </p:cNvSpPr>
          <p:nvPr/>
        </p:nvSpPr>
        <p:spPr>
          <a:xfrm xmlns:a="http://schemas.openxmlformats.org/drawingml/2006/main">
            <a:off x="685800" y="5191125"/>
            <a:ext cx="4953000" cy="628650"/>
          </a:xfrm>
          <a:prstGeom xmlns:a="http://schemas.openxmlformats.org/drawingml/2006/main" prst="roundRect">
            <a:avLst>
              <a:gd name="adj" fmla="val 12121"/>
            </a:avLst>
          </a:prstGeom>
          <a:solidFill xmlns:a="http://schemas.openxmlformats.org/drawingml/2006/main">
            <a:srgbClr val="DDEFE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2F59309-B631-42B1-82A8-D575860B8809}"/>
              </a:ext>
            </a:extLst>
          </p:cNvPr>
          <p:cNvSpPr>
            <a:spLocks xmlns:a="http://schemas.openxmlformats.org/drawingml/2006/main" noGrp="1"/>
          </p:cNvSpPr>
          <p:nvPr/>
        </p:nvSpPr>
        <p:spPr>
          <a:xfrm xmlns:a="http://schemas.openxmlformats.org/drawingml/2006/main">
            <a:off x="685800" y="5191125"/>
            <a:ext cx="66675" cy="628650"/>
          </a:xfrm>
          <a:prstGeom xmlns:a="http://schemas.openxmlformats.org/drawingml/2006/main" prst="roundRect">
            <a:avLst>
              <a:gd name="adj" fmla="val 50000"/>
            </a:avLst>
          </a:prstGeom>
          <a:solidFill xmlns:a="http://schemas.openxmlformats.org/drawingml/2006/main">
            <a:srgbClr val="19875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F489B72-AC83-4E23-8858-7309F8EC3218}"/>
              </a:ext>
            </a:extLst>
          </p:cNvPr>
          <p:cNvSpPr>
            <a:spLocks xmlns:a="http://schemas.openxmlformats.org/drawingml/2006/main" noGrp="1"/>
          </p:cNvSpPr>
          <p:nvPr/>
        </p:nvSpPr>
        <p:spPr>
          <a:xfrm xmlns:a="http://schemas.openxmlformats.org/drawingml/2006/main">
            <a:off x="895350" y="52673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98754"/>
                </a:solidFill>
                <a:latin typeface="Arial"/>
                <a:ea typeface="Arial"/>
                <a:cs typeface="Arial"/>
              </a:defRPr>
            </a:pPr>
            <a:r>
              <a:rPr sz="1275" b="1">
                <a:solidFill>
                  <a:srgbClr val="198754"/>
                </a:solidFill>
                <a:latin typeface="Arial"/>
                <a:ea typeface="Arial"/>
                <a:cs typeface="Arial"/>
              </a:rPr>
              <a:t>ĐIỂM MẠNH</a:t>
            </a:r>
          </a:p>
        </p:txBody>
      </p:sp>
      <p:sp>
        <p:nvSpPr>
          <p:cNvPr id="27" name="">
            <a:extLst xmlns:a="http://schemas.openxmlformats.org/drawingml/2006/main">
              <a:ext uri="{FF2B5EF4-FFF2-40B4-BE49-F238E27FC236}">
                <a16:creationId xmlns:a16="http://schemas.microsoft.com/office/drawing/2014/main" id="{670C80D1-F735-4158-8D8E-AB7AFFCD8A64}"/>
              </a:ext>
            </a:extLst>
          </p:cNvPr>
          <p:cNvSpPr>
            <a:spLocks xmlns:a="http://schemas.openxmlformats.org/drawingml/2006/main" noGrp="1"/>
          </p:cNvSpPr>
          <p:nvPr/>
        </p:nvSpPr>
        <p:spPr>
          <a:xfrm xmlns:a="http://schemas.openxmlformats.org/drawingml/2006/main">
            <a:off x="895350" y="5467350"/>
            <a:ext cx="4591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Chi phí thấp, phản hồi nhanh, nhìn thấy thiết bị để debug</a:t>
            </a:r>
          </a:p>
        </p:txBody>
      </p:sp>
      <p:sp>
        <p:nvSpPr>
          <p:cNvPr id="28" name="">
            <a:extLst xmlns:a="http://schemas.openxmlformats.org/drawingml/2006/main">
              <a:ext uri="{FF2B5EF4-FFF2-40B4-BE49-F238E27FC236}">
                <a16:creationId xmlns:a16="http://schemas.microsoft.com/office/drawing/2014/main" id="{4D67D6E0-F619-4996-8B13-23E38B422212}"/>
              </a:ext>
            </a:extLst>
          </p:cNvPr>
          <p:cNvSpPr>
            <a:spLocks xmlns:a="http://schemas.openxmlformats.org/drawingml/2006/main" noGrp="1"/>
          </p:cNvSpPr>
          <p:nvPr/>
        </p:nvSpPr>
        <p:spPr>
          <a:xfrm xmlns:a="http://schemas.openxmlformats.org/drawingml/2006/main">
            <a:off x="5857875" y="5191125"/>
            <a:ext cx="5381625" cy="628650"/>
          </a:xfrm>
          <a:prstGeom xmlns:a="http://schemas.openxmlformats.org/drawingml/2006/main" prst="roundRect">
            <a:avLst>
              <a:gd name="adj" fmla="val 12121"/>
            </a:avLst>
          </a:prstGeom>
          <a:solidFill xmlns:a="http://schemas.openxmlformats.org/drawingml/2006/main">
            <a:srgbClr val="FBE8E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EF9313E-CDC9-4CFC-A4F3-B2F054B5C069}"/>
              </a:ext>
            </a:extLst>
          </p:cNvPr>
          <p:cNvSpPr>
            <a:spLocks xmlns:a="http://schemas.openxmlformats.org/drawingml/2006/main" noGrp="1"/>
          </p:cNvSpPr>
          <p:nvPr/>
        </p:nvSpPr>
        <p:spPr>
          <a:xfrm xmlns:a="http://schemas.openxmlformats.org/drawingml/2006/main">
            <a:off x="5857875" y="5191125"/>
            <a:ext cx="66675" cy="628650"/>
          </a:xfrm>
          <a:prstGeom xmlns:a="http://schemas.openxmlformats.org/drawingml/2006/main" prst="roundRect">
            <a:avLst>
              <a:gd name="adj" fmla="val 50000"/>
            </a:avLst>
          </a:prstGeom>
          <a:solidFill xmlns:a="http://schemas.openxmlformats.org/drawingml/2006/main">
            <a:srgbClr val="D65A4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BBB9E4C-94DB-4C45-A2EA-09E2B233A86E}"/>
              </a:ext>
            </a:extLst>
          </p:cNvPr>
          <p:cNvSpPr>
            <a:spLocks xmlns:a="http://schemas.openxmlformats.org/drawingml/2006/main" noGrp="1"/>
          </p:cNvSpPr>
          <p:nvPr/>
        </p:nvSpPr>
        <p:spPr>
          <a:xfrm xmlns:a="http://schemas.openxmlformats.org/drawingml/2006/main">
            <a:off x="6067425" y="52673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D65A4A"/>
                </a:solidFill>
                <a:latin typeface="Arial"/>
                <a:ea typeface="Arial"/>
                <a:cs typeface="Arial"/>
              </a:defRPr>
            </a:pPr>
            <a:r>
              <a:rPr sz="1275" b="1">
                <a:solidFill>
                  <a:srgbClr val="D65A4A"/>
                </a:solidFill>
                <a:latin typeface="Arial"/>
                <a:ea typeface="Arial"/>
                <a:cs typeface="Arial"/>
              </a:rPr>
              <a:t>CẦN LƯU Ý</a:t>
            </a:r>
          </a:p>
        </p:txBody>
      </p:sp>
      <p:sp>
        <p:nvSpPr>
          <p:cNvPr id="31" name="">
            <a:extLst xmlns:a="http://schemas.openxmlformats.org/drawingml/2006/main">
              <a:ext uri="{FF2B5EF4-FFF2-40B4-BE49-F238E27FC236}">
                <a16:creationId xmlns:a16="http://schemas.microsoft.com/office/drawing/2014/main" id="{5F8C199D-CA40-402B-BFAE-F6AF94425416}"/>
              </a:ext>
            </a:extLst>
          </p:cNvPr>
          <p:cNvSpPr>
            <a:spLocks xmlns:a="http://schemas.openxmlformats.org/drawingml/2006/main" noGrp="1"/>
          </p:cNvSpPr>
          <p:nvPr/>
        </p:nvSpPr>
        <p:spPr>
          <a:xfrm xmlns:a="http://schemas.openxmlformats.org/drawingml/2006/main">
            <a:off x="6067425" y="5467350"/>
            <a:ext cx="5019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Team tự quản lý thiết bị, driver, tài nguyên host và trạng thái app</a:t>
            </a:r>
          </a:p>
        </p:txBody>
      </p:sp>
    </p:spTree>
    <p:extLst>
      <p:ext uri="{BB962C8B-B14F-4D97-AF65-F5344CB8AC3E}">
        <p14:creationId xmlns:p14="http://schemas.microsoft.com/office/powerpoint/2010/main" val="168657166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D2EF379-09DB-4396-812D-24C1FC51AC9C}"/>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TỰ ĐỘNG HOÁ TỪ TÀI LIỆU ĐẾN REPORT</a:t>
            </a:r>
          </a:p>
        </p:txBody>
      </p:sp>
      <p:sp>
        <p:nvSpPr>
          <p:cNvPr id="2" name="">
            <a:extLst xmlns:a="http://schemas.openxmlformats.org/drawingml/2006/main">
              <a:ext uri="{FF2B5EF4-FFF2-40B4-BE49-F238E27FC236}">
                <a16:creationId xmlns:a16="http://schemas.microsoft.com/office/drawing/2014/main" id="{F68534C3-8745-44B8-87C0-93EFA00834EA}"/>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App Studio Workflow</a:t>
            </a:r>
          </a:p>
        </p:txBody>
      </p:sp>
      <p:sp>
        <p:nvSpPr>
          <p:cNvPr id="3" name="">
            <a:extLst xmlns:a="http://schemas.openxmlformats.org/drawingml/2006/main">
              <a:ext uri="{FF2B5EF4-FFF2-40B4-BE49-F238E27FC236}">
                <a16:creationId xmlns:a16="http://schemas.microsoft.com/office/drawing/2014/main" id="{A8431592-7683-4B46-B069-24FAC46AFF96}"/>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CD90505-76CD-4BF3-BF4E-F646A4E5A891}"/>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32F72585-5729-4AD4-A14B-C275F939F062}"/>
              </a:ext>
            </a:extLst>
          </p:cNvPr>
          <p:cNvSpPr>
            <a:spLocks xmlns:a="http://schemas.openxmlformats.org/drawingml/2006/main" noGrp="1"/>
          </p:cNvSpPr>
          <p:nvPr/>
        </p:nvSpPr>
        <p:spPr>
          <a:xfrm xmlns:a="http://schemas.openxmlformats.org/drawingml/2006/main">
            <a:off x="619125" y="2381250"/>
            <a:ext cx="1809750" cy="904875"/>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90575"/>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Tài liệu</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Ticket + ảnh</a:t>
            </a:r>
          </a:p>
        </p:txBody>
      </p:sp>
      <p:sp>
        <p:nvSpPr>
          <p:cNvPr id="6" name="">
            <a:extLst xmlns:a="http://schemas.openxmlformats.org/drawingml/2006/main">
              <a:ext uri="{FF2B5EF4-FFF2-40B4-BE49-F238E27FC236}">
                <a16:creationId xmlns:a16="http://schemas.microsoft.com/office/drawing/2014/main" id="{18BA95D4-8A00-4867-96BD-5FA3702FE0DC}"/>
              </a:ext>
            </a:extLst>
          </p:cNvPr>
          <p:cNvSpPr>
            <a:spLocks xmlns:a="http://schemas.openxmlformats.org/drawingml/2006/main" noGrp="1"/>
          </p:cNvSpPr>
          <p:nvPr/>
        </p:nvSpPr>
        <p:spPr>
          <a:xfrm xmlns:a="http://schemas.openxmlformats.org/drawingml/2006/main">
            <a:off x="2952750" y="1714500"/>
            <a:ext cx="2095500" cy="81915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73452"/>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AI phân tích</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yêu cầu + màn hình</a:t>
            </a:r>
          </a:p>
        </p:txBody>
      </p:sp>
      <p:sp>
        <p:nvSpPr>
          <p:cNvPr id="7" name="">
            <a:extLst xmlns:a="http://schemas.openxmlformats.org/drawingml/2006/main">
              <a:ext uri="{FF2B5EF4-FFF2-40B4-BE49-F238E27FC236}">
                <a16:creationId xmlns:a16="http://schemas.microsoft.com/office/drawing/2014/main" id="{CD01E195-FBB9-419C-94E8-06777BB31EE2}"/>
              </a:ext>
            </a:extLst>
          </p:cNvPr>
          <p:cNvSpPr>
            <a:spLocks xmlns:a="http://schemas.openxmlformats.org/drawingml/2006/main" noGrp="1"/>
          </p:cNvSpPr>
          <p:nvPr/>
        </p:nvSpPr>
        <p:spPr>
          <a:xfrm xmlns:a="http://schemas.openxmlformats.org/drawingml/2006/main">
            <a:off x="2952750" y="3238500"/>
            <a:ext cx="2095500" cy="81915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80182"/>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Sinh Gherkin</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coverage + action</a:t>
            </a:r>
          </a:p>
        </p:txBody>
      </p:sp>
      <p:cxnSp>
        <p:nvCxnSpPr>
          <p:cNvPr id="37" name=""/>
          <p:cNvCxnSpPr>
            <a:stCxn xmlns:a="http://schemas.openxmlformats.org/drawingml/2006/main" id="5" idx="6"/>
            <a:endCxn xmlns:a="http://schemas.openxmlformats.org/drawingml/2006/main" id="6" idx="2"/>
          </p:cNvCxnSpPr>
          <p:nvPr/>
        </p:nvCxnSpPr>
        <p:spPr>
          <a:xfrm xmlns:a="http://schemas.openxmlformats.org/drawingml/2006/main" flipV="1">
            <a:off x="2428875" y="2124075"/>
            <a:ext cx="523875" cy="709613"/>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8" name=""/>
          <p:cNvCxnSpPr>
            <a:stCxn xmlns:a="http://schemas.openxmlformats.org/drawingml/2006/main" id="6" idx="4"/>
            <a:endCxn xmlns:a="http://schemas.openxmlformats.org/drawingml/2006/main" id="7" idx="0"/>
          </p:cNvCxnSpPr>
          <p:nvPr/>
        </p:nvCxnSpPr>
        <p:spPr>
          <a:xfrm xmlns:a="http://schemas.openxmlformats.org/drawingml/2006/main">
            <a:off x="4000500" y="2533650"/>
            <a:ext cx="0" cy="70485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0" name="">
            <a:extLst xmlns:a="http://schemas.openxmlformats.org/drawingml/2006/main">
              <a:ext uri="{FF2B5EF4-FFF2-40B4-BE49-F238E27FC236}">
                <a16:creationId xmlns:a16="http://schemas.microsoft.com/office/drawing/2014/main" id="{4B4083D4-61F4-486F-A65D-0F838086312F}"/>
              </a:ext>
            </a:extLst>
          </p:cNvPr>
          <p:cNvSpPr>
            <a:spLocks xmlns:a="http://schemas.openxmlformats.org/drawingml/2006/main" noGrp="1"/>
          </p:cNvSpPr>
          <p:nvPr/>
        </p:nvSpPr>
        <p:spPr>
          <a:xfrm xmlns:a="http://schemas.openxmlformats.org/drawingml/2006/main">
            <a:off x="6038850" y="1381125"/>
            <a:ext cx="323850" cy="323850"/>
          </a:xfrm>
          <a:prstGeom xmlns:a="http://schemas.openxmlformats.org/drawingml/2006/main" prst="ellipse">
            <a:avLst/>
          </a:prstGeom>
          <a:solidFill xmlns:a="http://schemas.openxmlformats.org/drawingml/2006/main">
            <a:srgbClr val="E7B24A"/>
          </a:solidFill>
          <a:ln xmlns:a="http://schemas.openxmlformats.org/drawingml/2006/main" w="9525">
            <a:solidFill>
              <a:srgbClr val="E7B24A"/>
            </a:solidFill>
            <a:prstDash val="solid"/>
          </a:ln>
        </p:spPr>
      </p:sp>
      <p:sp>
        <p:nvSpPr>
          <p:cNvPr id="11" name="">
            <a:extLst xmlns:a="http://schemas.openxmlformats.org/drawingml/2006/main">
              <a:ext uri="{FF2B5EF4-FFF2-40B4-BE49-F238E27FC236}">
                <a16:creationId xmlns:a16="http://schemas.microsoft.com/office/drawing/2014/main" id="{C2A8CC09-8A55-4969-A6A0-6A870947E9FD}"/>
              </a:ext>
            </a:extLst>
          </p:cNvPr>
          <p:cNvSpPr>
            <a:spLocks xmlns:a="http://schemas.openxmlformats.org/drawingml/2006/main" noGrp="1"/>
          </p:cNvSpPr>
          <p:nvPr/>
        </p:nvSpPr>
        <p:spPr>
          <a:xfrm xmlns:a="http://schemas.openxmlformats.org/drawingml/2006/main">
            <a:off x="6200775" y="1704975"/>
            <a:ext cx="0" cy="523875"/>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2" name="">
            <a:extLst xmlns:a="http://schemas.openxmlformats.org/drawingml/2006/main">
              <a:ext uri="{FF2B5EF4-FFF2-40B4-BE49-F238E27FC236}">
                <a16:creationId xmlns:a16="http://schemas.microsoft.com/office/drawing/2014/main" id="{99AEBAA2-FD18-4A90-B41D-D9A20A7AC72B}"/>
              </a:ext>
            </a:extLst>
          </p:cNvPr>
          <p:cNvSpPr>
            <a:spLocks xmlns:a="http://schemas.openxmlformats.org/drawingml/2006/main" noGrp="1"/>
          </p:cNvSpPr>
          <p:nvPr/>
        </p:nvSpPr>
        <p:spPr>
          <a:xfrm xmlns:a="http://schemas.openxmlformats.org/drawingml/2006/main">
            <a:off x="5905500" y="1876425"/>
            <a:ext cx="590550" cy="0"/>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3" name="">
            <a:extLst xmlns:a="http://schemas.openxmlformats.org/drawingml/2006/main">
              <a:ext uri="{FF2B5EF4-FFF2-40B4-BE49-F238E27FC236}">
                <a16:creationId xmlns:a16="http://schemas.microsoft.com/office/drawing/2014/main" id="{272D7A66-2ED3-4626-A765-95A2B819A72B}"/>
              </a:ext>
            </a:extLst>
          </p:cNvPr>
          <p:cNvSpPr>
            <a:spLocks xmlns:a="http://schemas.openxmlformats.org/drawingml/2006/main" noGrp="1"/>
          </p:cNvSpPr>
          <p:nvPr/>
        </p:nvSpPr>
        <p:spPr>
          <a:xfrm xmlns:a="http://schemas.openxmlformats.org/drawingml/2006/main">
            <a:off x="6038850" y="2209800"/>
            <a:ext cx="0" cy="400050"/>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4" name="">
            <a:extLst xmlns:a="http://schemas.openxmlformats.org/drawingml/2006/main">
              <a:ext uri="{FF2B5EF4-FFF2-40B4-BE49-F238E27FC236}">
                <a16:creationId xmlns:a16="http://schemas.microsoft.com/office/drawing/2014/main" id="{D8DBF9C3-D1DC-428A-BEE3-0088F1A95513}"/>
              </a:ext>
            </a:extLst>
          </p:cNvPr>
          <p:cNvSpPr>
            <a:spLocks xmlns:a="http://schemas.openxmlformats.org/drawingml/2006/main" noGrp="1"/>
          </p:cNvSpPr>
          <p:nvPr/>
        </p:nvSpPr>
        <p:spPr>
          <a:xfrm xmlns:a="http://schemas.openxmlformats.org/drawingml/2006/main">
            <a:off x="6362700" y="2209800"/>
            <a:ext cx="0" cy="400050"/>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5" name="">
            <a:extLst xmlns:a="http://schemas.openxmlformats.org/drawingml/2006/main">
              <a:ext uri="{FF2B5EF4-FFF2-40B4-BE49-F238E27FC236}">
                <a16:creationId xmlns:a16="http://schemas.microsoft.com/office/drawing/2014/main" id="{16211CCE-6DD4-41D0-A573-ED6937E7A303}"/>
              </a:ext>
            </a:extLst>
          </p:cNvPr>
          <p:cNvSpPr>
            <a:spLocks xmlns:a="http://schemas.openxmlformats.org/drawingml/2006/main" noGrp="1"/>
          </p:cNvSpPr>
          <p:nvPr/>
        </p:nvSpPr>
        <p:spPr>
          <a:xfrm xmlns:a="http://schemas.openxmlformats.org/drawingml/2006/main">
            <a:off x="5638800" y="263842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2576"/>
          </a:bodyPr>
          <a:lstStyle xmlns:a="http://schemas.openxmlformats.org/drawingml/2006/main"/>
          <a:p xmlns:a="http://schemas.openxmlformats.org/drawingml/2006/main">
            <a:pPr algn="ctr">
              <a:defRPr sz="1425" b="1">
                <a:solidFill>
                  <a:srgbClr val="E7B24A"/>
                </a:solidFill>
                <a:latin typeface="Arial"/>
                <a:ea typeface="Arial"/>
                <a:cs typeface="Arial"/>
              </a:defRPr>
            </a:pPr>
            <a:r>
              <a:rPr sz="1425" b="1">
                <a:solidFill>
                  <a:srgbClr val="E7B24A"/>
                </a:solidFill>
                <a:latin typeface="Arial"/>
                <a:ea typeface="Arial"/>
                <a:cs typeface="Arial"/>
              </a:rPr>
              <a:t>Người review</a:t>
            </a:r>
          </a:p>
        </p:txBody>
      </p:sp>
      <p:sp>
        <p:nvSpPr>
          <p:cNvPr id="16" name="">
            <a:extLst xmlns:a="http://schemas.openxmlformats.org/drawingml/2006/main">
              <a:ext uri="{FF2B5EF4-FFF2-40B4-BE49-F238E27FC236}">
                <a16:creationId xmlns:a16="http://schemas.microsoft.com/office/drawing/2014/main" id="{238E3861-6B77-482E-BF1B-86CB6D565FFF}"/>
              </a:ext>
            </a:extLst>
          </p:cNvPr>
          <p:cNvSpPr>
            <a:spLocks xmlns:a="http://schemas.openxmlformats.org/drawingml/2006/main" noGrp="1"/>
          </p:cNvSpPr>
          <p:nvPr/>
        </p:nvSpPr>
        <p:spPr>
          <a:xfrm xmlns:a="http://schemas.openxmlformats.org/drawingml/2006/main">
            <a:off x="6667500" y="3238500"/>
            <a:ext cx="2000250" cy="904875"/>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78339"/>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Cổng review</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Duyệt hoặc sửa</a:t>
            </a:r>
          </a:p>
        </p:txBody>
      </p:sp>
      <p:cxnSp>
        <p:nvCxnSpPr>
          <p:cNvPr id="46" name=""/>
          <p:cNvCxnSpPr>
            <a:stCxn xmlns:a="http://schemas.openxmlformats.org/drawingml/2006/main" id="7" idx="6"/>
            <a:endCxn xmlns:a="http://schemas.openxmlformats.org/drawingml/2006/main" id="16" idx="2"/>
          </p:cNvCxnSpPr>
          <p:nvPr/>
        </p:nvCxnSpPr>
        <p:spPr>
          <a:xfrm xmlns:a="http://schemas.openxmlformats.org/drawingml/2006/main">
            <a:off x="5048250" y="3648075"/>
            <a:ext cx="1619250" cy="42863"/>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8" name="">
            <a:extLst xmlns:a="http://schemas.openxmlformats.org/drawingml/2006/main">
              <a:ext uri="{FF2B5EF4-FFF2-40B4-BE49-F238E27FC236}">
                <a16:creationId xmlns:a16="http://schemas.microsoft.com/office/drawing/2014/main" id="{37CD6E03-54BF-4288-BA12-4C0C54C17AD8}"/>
              </a:ext>
            </a:extLst>
          </p:cNvPr>
          <p:cNvSpPr>
            <a:spLocks xmlns:a="http://schemas.openxmlformats.org/drawingml/2006/main" noGrp="1"/>
          </p:cNvSpPr>
          <p:nvPr/>
        </p:nvSpPr>
        <p:spPr>
          <a:xfrm xmlns:a="http://schemas.openxmlformats.org/drawingml/2006/main">
            <a:off x="9429750" y="1619250"/>
            <a:ext cx="2095500" cy="81915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9137"/>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Chạy riêng lẻ</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hoặc song song</a:t>
            </a:r>
          </a:p>
        </p:txBody>
      </p:sp>
      <p:sp>
        <p:nvSpPr>
          <p:cNvPr id="19" name="">
            <a:extLst xmlns:a="http://schemas.openxmlformats.org/drawingml/2006/main">
              <a:ext uri="{FF2B5EF4-FFF2-40B4-BE49-F238E27FC236}">
                <a16:creationId xmlns:a16="http://schemas.microsoft.com/office/drawing/2014/main" id="{6CCD2B4C-0DAF-471E-864B-6041EC167694}"/>
              </a:ext>
            </a:extLst>
          </p:cNvPr>
          <p:cNvSpPr>
            <a:spLocks xmlns:a="http://schemas.openxmlformats.org/drawingml/2006/main" noGrp="1"/>
          </p:cNvSpPr>
          <p:nvPr/>
        </p:nvSpPr>
        <p:spPr>
          <a:xfrm xmlns:a="http://schemas.openxmlformats.org/drawingml/2006/main">
            <a:off x="9429750" y="3238500"/>
            <a:ext cx="2095500" cy="81915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74870"/>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Healing có kiểm soát</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Report + learning</a:t>
            </a:r>
          </a:p>
        </p:txBody>
      </p:sp>
      <p:cxnSp>
        <p:nvCxnSpPr>
          <p:cNvPr id="49" name=""/>
          <p:cNvCxnSpPr>
            <a:stCxn xmlns:a="http://schemas.openxmlformats.org/drawingml/2006/main" id="16" idx="6"/>
            <a:endCxn xmlns:a="http://schemas.openxmlformats.org/drawingml/2006/main" id="18" idx="2"/>
          </p:cNvCxnSpPr>
          <p:nvPr/>
        </p:nvCxnSpPr>
        <p:spPr>
          <a:xfrm xmlns:a="http://schemas.openxmlformats.org/drawingml/2006/main" flipV="1">
            <a:off x="8667750" y="2028825"/>
            <a:ext cx="762000" cy="1662113"/>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0" name=""/>
          <p:cNvCxnSpPr>
            <a:stCxn xmlns:a="http://schemas.openxmlformats.org/drawingml/2006/main" id="18" idx="4"/>
            <a:endCxn xmlns:a="http://schemas.openxmlformats.org/drawingml/2006/main" id="19" idx="0"/>
          </p:cNvCxnSpPr>
          <p:nvPr/>
        </p:nvCxnSpPr>
        <p:spPr>
          <a:xfrm xmlns:a="http://schemas.openxmlformats.org/drawingml/2006/main">
            <a:off x="10477500" y="2438400"/>
            <a:ext cx="0" cy="80010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2" name="">
            <a:extLst xmlns:a="http://schemas.openxmlformats.org/drawingml/2006/main">
              <a:ext uri="{FF2B5EF4-FFF2-40B4-BE49-F238E27FC236}">
                <a16:creationId xmlns:a16="http://schemas.microsoft.com/office/drawing/2014/main" id="{383ACD2C-D608-4E9B-BE22-E266C3AC23AC}"/>
              </a:ext>
            </a:extLst>
          </p:cNvPr>
          <p:cNvSpPr>
            <a:spLocks xmlns:a="http://schemas.openxmlformats.org/drawingml/2006/main" noGrp="1"/>
          </p:cNvSpPr>
          <p:nvPr/>
        </p:nvSpPr>
        <p:spPr>
          <a:xfrm xmlns:a="http://schemas.openxmlformats.org/drawingml/2006/main">
            <a:off x="685800" y="5219700"/>
            <a:ext cx="5143500" cy="628650"/>
          </a:xfrm>
          <a:prstGeom xmlns:a="http://schemas.openxmlformats.org/drawingml/2006/main" prst="roundRect">
            <a:avLst>
              <a:gd name="adj" fmla="val 12121"/>
            </a:avLst>
          </a:prstGeom>
          <a:solidFill xmlns:a="http://schemas.openxmlformats.org/drawingml/2006/main">
            <a:srgbClr val="FFF2D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9F152B4-232E-4D88-9E7F-45D3D9FC6B12}"/>
              </a:ext>
            </a:extLst>
          </p:cNvPr>
          <p:cNvSpPr>
            <a:spLocks xmlns:a="http://schemas.openxmlformats.org/drawingml/2006/main" noGrp="1"/>
          </p:cNvSpPr>
          <p:nvPr/>
        </p:nvSpPr>
        <p:spPr>
          <a:xfrm xmlns:a="http://schemas.openxmlformats.org/drawingml/2006/main">
            <a:off x="685800" y="5219700"/>
            <a:ext cx="66675" cy="628650"/>
          </a:xfrm>
          <a:prstGeom xmlns:a="http://schemas.openxmlformats.org/drawingml/2006/main" prst="roundRect">
            <a:avLst>
              <a:gd name="adj" fmla="val 50000"/>
            </a:avLst>
          </a:prstGeom>
          <a:solidFill xmlns:a="http://schemas.openxmlformats.org/drawingml/2006/main">
            <a:srgbClr val="E7B24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994EFF6-EF49-46A8-8274-680AF6510591}"/>
              </a:ext>
            </a:extLst>
          </p:cNvPr>
          <p:cNvSpPr>
            <a:spLocks xmlns:a="http://schemas.openxmlformats.org/drawingml/2006/main" noGrp="1"/>
          </p:cNvSpPr>
          <p:nvPr/>
        </p:nvSpPr>
        <p:spPr>
          <a:xfrm xmlns:a="http://schemas.openxmlformats.org/drawingml/2006/main">
            <a:off x="895350" y="52959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E7B24A"/>
                </a:solidFill>
                <a:latin typeface="Arial"/>
                <a:ea typeface="Arial"/>
                <a:cs typeface="Arial"/>
              </a:defRPr>
            </a:pPr>
            <a:r>
              <a:rPr sz="1275" b="1">
                <a:solidFill>
                  <a:srgbClr val="E7B24A"/>
                </a:solidFill>
                <a:latin typeface="Arial"/>
                <a:ea typeface="Arial"/>
                <a:cs typeface="Arial"/>
              </a:rPr>
              <a:t>KHÁC BIỆT</a:t>
            </a:r>
          </a:p>
        </p:txBody>
      </p:sp>
      <p:sp>
        <p:nvSpPr>
          <p:cNvPr id="25" name="">
            <a:extLst xmlns:a="http://schemas.openxmlformats.org/drawingml/2006/main">
              <a:ext uri="{FF2B5EF4-FFF2-40B4-BE49-F238E27FC236}">
                <a16:creationId xmlns:a16="http://schemas.microsoft.com/office/drawing/2014/main" id="{8FAA6311-794E-4BA5-BEA4-AE4958C68CB4}"/>
              </a:ext>
            </a:extLst>
          </p:cNvPr>
          <p:cNvSpPr>
            <a:spLocks xmlns:a="http://schemas.openxmlformats.org/drawingml/2006/main" noGrp="1"/>
          </p:cNvSpPr>
          <p:nvPr/>
        </p:nvSpPr>
        <p:spPr>
          <a:xfrm xmlns:a="http://schemas.openxmlformats.org/drawingml/2006/main">
            <a:off x="895350" y="5495925"/>
            <a:ext cx="4781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162"/>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Runner bắt đầu từ testcase có sẵn. Studio bắt đầu từ nguồn nghiệp vụ</a:t>
            </a:r>
          </a:p>
        </p:txBody>
      </p:sp>
      <p:sp>
        <p:nvSpPr>
          <p:cNvPr id="26" name="">
            <a:extLst xmlns:a="http://schemas.openxmlformats.org/drawingml/2006/main">
              <a:ext uri="{FF2B5EF4-FFF2-40B4-BE49-F238E27FC236}">
                <a16:creationId xmlns:a16="http://schemas.microsoft.com/office/drawing/2014/main" id="{4FDB80E2-38A1-4A3F-8988-7A35E5B060CC}"/>
              </a:ext>
            </a:extLst>
          </p:cNvPr>
          <p:cNvSpPr>
            <a:spLocks xmlns:a="http://schemas.openxmlformats.org/drawingml/2006/main" noGrp="1"/>
          </p:cNvSpPr>
          <p:nvPr/>
        </p:nvSpPr>
        <p:spPr>
          <a:xfrm xmlns:a="http://schemas.openxmlformats.org/drawingml/2006/main">
            <a:off x="6048375" y="5219700"/>
            <a:ext cx="5191125" cy="628650"/>
          </a:xfrm>
          <a:prstGeom xmlns:a="http://schemas.openxmlformats.org/drawingml/2006/main" prst="roundRect">
            <a:avLst>
              <a:gd name="adj" fmla="val 12121"/>
            </a:avLst>
          </a:prstGeom>
          <a:solidFill xmlns:a="http://schemas.openxmlformats.org/drawingml/2006/main">
            <a:srgbClr val="DFF3F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F57CDD7-6C0D-4B10-A214-481B4A271C9B}"/>
              </a:ext>
            </a:extLst>
          </p:cNvPr>
          <p:cNvSpPr>
            <a:spLocks xmlns:a="http://schemas.openxmlformats.org/drawingml/2006/main" noGrp="1"/>
          </p:cNvSpPr>
          <p:nvPr/>
        </p:nvSpPr>
        <p:spPr>
          <a:xfrm xmlns:a="http://schemas.openxmlformats.org/drawingml/2006/main">
            <a:off x="6048375" y="5219700"/>
            <a:ext cx="66675" cy="628650"/>
          </a:xfrm>
          <a:prstGeom xmlns:a="http://schemas.openxmlformats.org/drawingml/2006/main" prst="roundRect">
            <a:avLst>
              <a:gd name="adj" fmla="val 50000"/>
            </a:avLst>
          </a:prstGeom>
          <a:solidFill xmlns:a="http://schemas.openxmlformats.org/drawingml/2006/main">
            <a:srgbClr val="1F6F8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F47F2D5-607C-4164-8E73-94DDEDA8ADEB}"/>
              </a:ext>
            </a:extLst>
          </p:cNvPr>
          <p:cNvSpPr>
            <a:spLocks xmlns:a="http://schemas.openxmlformats.org/drawingml/2006/main" noGrp="1"/>
          </p:cNvSpPr>
          <p:nvPr/>
        </p:nvSpPr>
        <p:spPr>
          <a:xfrm xmlns:a="http://schemas.openxmlformats.org/drawingml/2006/main">
            <a:off x="6257925" y="52959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F6F8B"/>
                </a:solidFill>
                <a:latin typeface="Arial"/>
                <a:ea typeface="Arial"/>
                <a:cs typeface="Arial"/>
              </a:defRPr>
            </a:pPr>
            <a:r>
              <a:rPr sz="1275" b="1">
                <a:solidFill>
                  <a:srgbClr val="1F6F8B"/>
                </a:solidFill>
                <a:latin typeface="Arial"/>
                <a:ea typeface="Arial"/>
                <a:cs typeface="Arial"/>
              </a:rPr>
              <a:t>VAI TRÒ CON NGƯỜI</a:t>
            </a:r>
          </a:p>
        </p:txBody>
      </p:sp>
      <p:sp>
        <p:nvSpPr>
          <p:cNvPr id="29" name="">
            <a:extLst xmlns:a="http://schemas.openxmlformats.org/drawingml/2006/main">
              <a:ext uri="{FF2B5EF4-FFF2-40B4-BE49-F238E27FC236}">
                <a16:creationId xmlns:a16="http://schemas.microsoft.com/office/drawing/2014/main" id="{8DC14B53-8DF9-416F-A3B0-782B90859094}"/>
              </a:ext>
            </a:extLst>
          </p:cNvPr>
          <p:cNvSpPr>
            <a:spLocks xmlns:a="http://schemas.openxmlformats.org/drawingml/2006/main" noGrp="1"/>
          </p:cNvSpPr>
          <p:nvPr/>
        </p:nvSpPr>
        <p:spPr>
          <a:xfrm xmlns:a="http://schemas.openxmlformats.org/drawingml/2006/main">
            <a:off x="6257925" y="5495925"/>
            <a:ext cx="48291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Tập trung tại điểm review và quyết định nghiệp vụ còn mơ hồ</a:t>
            </a:r>
          </a:p>
        </p:txBody>
      </p:sp>
    </p:spTree>
    <p:extLst>
      <p:ext uri="{BB962C8B-B14F-4D97-AF65-F5344CB8AC3E}">
        <p14:creationId xmlns:p14="http://schemas.microsoft.com/office/powerpoint/2010/main" val="6540808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4439D95-7915-48C0-AC98-AB5E16A7F56F}"/>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KIẾN TRÚC AI</a:t>
            </a:r>
          </a:p>
        </p:txBody>
      </p:sp>
      <p:sp>
        <p:nvSpPr>
          <p:cNvPr id="2" name="">
            <a:extLst xmlns:a="http://schemas.openxmlformats.org/drawingml/2006/main">
              <a:ext uri="{FF2B5EF4-FFF2-40B4-BE49-F238E27FC236}">
                <a16:creationId xmlns:a16="http://schemas.microsoft.com/office/drawing/2014/main" id="{827E1AF4-0188-4AB6-AFDD-721EA544805F}"/>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AI hỗ trợ theo từng lớp</a:t>
            </a:r>
          </a:p>
        </p:txBody>
      </p:sp>
      <p:sp>
        <p:nvSpPr>
          <p:cNvPr id="3" name="">
            <a:extLst xmlns:a="http://schemas.openxmlformats.org/drawingml/2006/main">
              <a:ext uri="{FF2B5EF4-FFF2-40B4-BE49-F238E27FC236}">
                <a16:creationId xmlns:a16="http://schemas.microsoft.com/office/drawing/2014/main" id="{FD21CA57-DA5B-45FF-87D6-94701EED5C03}"/>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CCC24D0-1716-4D8F-A216-1E2BF802F992}"/>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D104F86C-FFE2-4BC0-9C8B-DBB97580D97B}"/>
              </a:ext>
            </a:extLst>
          </p:cNvPr>
          <p:cNvSpPr>
            <a:spLocks xmlns:a="http://schemas.openxmlformats.org/drawingml/2006/main" noGrp="1"/>
          </p:cNvSpPr>
          <p:nvPr/>
        </p:nvSpPr>
        <p:spPr>
          <a:xfrm xmlns:a="http://schemas.openxmlformats.org/drawingml/2006/main">
            <a:off x="4476750" y="1428750"/>
            <a:ext cx="3238500" cy="62865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81145"/>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Đề xuất từ AI</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locator, action hoặc diagnosis</a:t>
            </a:r>
          </a:p>
        </p:txBody>
      </p:sp>
      <p:sp>
        <p:nvSpPr>
          <p:cNvPr id="6" name="">
            <a:extLst xmlns:a="http://schemas.openxmlformats.org/drawingml/2006/main">
              <a:ext uri="{FF2B5EF4-FFF2-40B4-BE49-F238E27FC236}">
                <a16:creationId xmlns:a16="http://schemas.microsoft.com/office/drawing/2014/main" id="{2924655B-6C5F-4C82-9500-9AE06C441EDD}"/>
              </a:ext>
            </a:extLst>
          </p:cNvPr>
          <p:cNvSpPr>
            <a:spLocks xmlns:a="http://schemas.openxmlformats.org/drawingml/2006/main" noGrp="1"/>
          </p:cNvSpPr>
          <p:nvPr/>
        </p:nvSpPr>
        <p:spPr>
          <a:xfrm xmlns:a="http://schemas.openxmlformats.org/drawingml/2006/main">
            <a:off x="4762500" y="3000375"/>
            <a:ext cx="2667000" cy="95250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77160"/>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CỔNG AN TOÀN</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Tiếp tục, dừng hoặc review</a:t>
            </a:r>
          </a:p>
        </p:txBody>
      </p:sp>
      <p:cxnSp>
        <p:nvCxnSpPr>
          <p:cNvPr id="26" name=""/>
          <p:cNvCxnSpPr>
            <a:stCxn xmlns:a="http://schemas.openxmlformats.org/drawingml/2006/main" id="5" idx="4"/>
            <a:endCxn xmlns:a="http://schemas.openxmlformats.org/drawingml/2006/main" id="6" idx="0"/>
          </p:cNvCxnSpPr>
          <p:nvPr/>
        </p:nvCxnSpPr>
        <p:spPr>
          <a:xfrm xmlns:a="http://schemas.openxmlformats.org/drawingml/2006/main">
            <a:off x="6096000" y="2057400"/>
            <a:ext cx="0" cy="9429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8" name="">
            <a:extLst xmlns:a="http://schemas.openxmlformats.org/drawingml/2006/main">
              <a:ext uri="{FF2B5EF4-FFF2-40B4-BE49-F238E27FC236}">
                <a16:creationId xmlns:a16="http://schemas.microsoft.com/office/drawing/2014/main" id="{9653E259-8C02-4D0D-98E4-6A5450A681BF}"/>
              </a:ext>
            </a:extLst>
          </p:cNvPr>
          <p:cNvSpPr>
            <a:spLocks xmlns:a="http://schemas.openxmlformats.org/drawingml/2006/main" noGrp="1"/>
          </p:cNvSpPr>
          <p:nvPr/>
        </p:nvSpPr>
        <p:spPr>
          <a:xfrm xmlns:a="http://schemas.openxmlformats.org/drawingml/2006/main">
            <a:off x="619125" y="1809750"/>
            <a:ext cx="3333750" cy="8763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F6F8B"/>
            </a:solidFill>
            <a:prstDash val="solid"/>
          </a:ln>
        </p:spPr>
        <p:txBody>
          <a:bodyPr xmlns:a="http://schemas.openxmlformats.org/drawingml/2006/main" anchor="ctr">
            <a:normAutofit fontScale="81073"/>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Độ tin cậy (Confidence)</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Điểm đề xuất phải vượt ngưỡng cấu hình</a:t>
            </a:r>
          </a:p>
        </p:txBody>
      </p:sp>
      <p:sp>
        <p:nvSpPr>
          <p:cNvPr id="9" name="">
            <a:extLst xmlns:a="http://schemas.openxmlformats.org/drawingml/2006/main">
              <a:ext uri="{FF2B5EF4-FFF2-40B4-BE49-F238E27FC236}">
                <a16:creationId xmlns:a16="http://schemas.microsoft.com/office/drawing/2014/main" id="{A16E29BB-8A17-4591-A223-651CB80E6A2C}"/>
              </a:ext>
            </a:extLst>
          </p:cNvPr>
          <p:cNvSpPr>
            <a:spLocks xmlns:a="http://schemas.openxmlformats.org/drawingml/2006/main" noGrp="1"/>
          </p:cNvSpPr>
          <p:nvPr/>
        </p:nvSpPr>
        <p:spPr>
          <a:xfrm xmlns:a="http://schemas.openxmlformats.org/drawingml/2006/main">
            <a:off x="619125" y="3190875"/>
            <a:ext cx="3333750" cy="8763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F6F8B"/>
            </a:solidFill>
            <a:prstDash val="solid"/>
          </a:ln>
        </p:spPr>
        <p:txBody>
          <a:bodyPr xmlns:a="http://schemas.openxmlformats.org/drawingml/2006/main" anchor="ctr">
            <a:normAutofit fontScale="81073"/>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Mức mơ hồ (Ambiguity)</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Dừng khi nhiều phương án có điểm quá gần nhau</a:t>
            </a:r>
          </a:p>
        </p:txBody>
      </p:sp>
      <p:sp>
        <p:nvSpPr>
          <p:cNvPr id="10" name="">
            <a:extLst xmlns:a="http://schemas.openxmlformats.org/drawingml/2006/main">
              <a:ext uri="{FF2B5EF4-FFF2-40B4-BE49-F238E27FC236}">
                <a16:creationId xmlns:a16="http://schemas.microsoft.com/office/drawing/2014/main" id="{7F587B5B-80D1-46A5-9CDE-3A9B1CA2F6D8}"/>
              </a:ext>
            </a:extLst>
          </p:cNvPr>
          <p:cNvSpPr>
            <a:spLocks xmlns:a="http://schemas.openxmlformats.org/drawingml/2006/main" noGrp="1"/>
          </p:cNvSpPr>
          <p:nvPr/>
        </p:nvSpPr>
        <p:spPr>
          <a:xfrm xmlns:a="http://schemas.openxmlformats.org/drawingml/2006/main">
            <a:off x="619125" y="4572000"/>
            <a:ext cx="3333750" cy="8763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F6F8B"/>
            </a:solidFill>
            <a:prstDash val="solid"/>
          </a:ln>
        </p:spPr>
        <p:txBody>
          <a:bodyPr xmlns:a="http://schemas.openxmlformats.org/drawingml/2006/main" anchor="ctr">
            <a:normAutofit fontScale="73950"/>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An toàn hành động (Action safety)</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Chặn thao tác có rủi ro hoặc ngoài policy</a:t>
            </a:r>
          </a:p>
        </p:txBody>
      </p:sp>
      <p:sp>
        <p:nvSpPr>
          <p:cNvPr id="11" name="">
            <a:extLst xmlns:a="http://schemas.openxmlformats.org/drawingml/2006/main">
              <a:ext uri="{FF2B5EF4-FFF2-40B4-BE49-F238E27FC236}">
                <a16:creationId xmlns:a16="http://schemas.microsoft.com/office/drawing/2014/main" id="{784BD9AC-619A-45B5-9410-6CC310D7FDD2}"/>
              </a:ext>
            </a:extLst>
          </p:cNvPr>
          <p:cNvSpPr>
            <a:spLocks xmlns:a="http://schemas.openxmlformats.org/drawingml/2006/main" noGrp="1"/>
          </p:cNvSpPr>
          <p:nvPr/>
        </p:nvSpPr>
        <p:spPr>
          <a:xfrm xmlns:a="http://schemas.openxmlformats.org/drawingml/2006/main">
            <a:off x="8239125" y="2238375"/>
            <a:ext cx="3333750" cy="9525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9343"/>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Xác minh (Verification)</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Kiểm tra label, role, hiển thị và trạng thái UI</a:t>
            </a:r>
          </a:p>
        </p:txBody>
      </p:sp>
      <p:sp>
        <p:nvSpPr>
          <p:cNvPr id="12" name="">
            <a:extLst xmlns:a="http://schemas.openxmlformats.org/drawingml/2006/main">
              <a:ext uri="{FF2B5EF4-FFF2-40B4-BE49-F238E27FC236}">
                <a16:creationId xmlns:a16="http://schemas.microsoft.com/office/drawing/2014/main" id="{67C32F3F-B68F-4408-9F4C-947F8F499F05}"/>
              </a:ext>
            </a:extLst>
          </p:cNvPr>
          <p:cNvSpPr>
            <a:spLocks xmlns:a="http://schemas.openxmlformats.org/drawingml/2006/main" noGrp="1"/>
          </p:cNvSpPr>
          <p:nvPr/>
        </p:nvSpPr>
        <p:spPr>
          <a:xfrm xmlns:a="http://schemas.openxmlformats.org/drawingml/2006/main">
            <a:off x="8239125" y="4095750"/>
            <a:ext cx="3333750" cy="9525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75829"/>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Con người duyệt (Human review)</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Áp dụng khi dữ kiện thiếu, mơ hồ hoặc rủi ro cao</a:t>
            </a:r>
          </a:p>
        </p:txBody>
      </p:sp>
      <p:cxnSp>
        <p:nvCxnSpPr>
          <p:cNvPr id="32" name=""/>
          <p:cNvCxnSpPr>
            <a:stCxn xmlns:a="http://schemas.openxmlformats.org/drawingml/2006/main" id="8" idx="6"/>
            <a:endCxn xmlns:a="http://schemas.openxmlformats.org/drawingml/2006/main" id="6" idx="2"/>
          </p:cNvCxnSpPr>
          <p:nvPr/>
        </p:nvCxnSpPr>
        <p:spPr>
          <a:xfrm xmlns:a="http://schemas.openxmlformats.org/drawingml/2006/main">
            <a:off x="3952875" y="2247900"/>
            <a:ext cx="809625" cy="1228725"/>
          </a:xfrm>
          <a:prstGeom xmlns:a="http://schemas.openxmlformats.org/drawingml/2006/main" prst="straightConnector1">
            <a:avLst/>
          </a:prstGeom>
          <a:ln xmlns:a="http://schemas.openxmlformats.org/drawingml/2006/main" w="19050">
            <a:solidFill>
              <a:srgbClr val="B8C7D1"/>
            </a:solidFill>
            <a:prstDash val="dash"/>
          </a:ln>
        </p:spPr>
      </p:cxnSp>
      <p:cxnSp>
        <p:nvCxnSpPr>
          <p:cNvPr id="33" name=""/>
          <p:cNvCxnSpPr>
            <a:stCxn xmlns:a="http://schemas.openxmlformats.org/drawingml/2006/main" id="9" idx="6"/>
            <a:endCxn xmlns:a="http://schemas.openxmlformats.org/drawingml/2006/main" id="6" idx="2"/>
          </p:cNvCxnSpPr>
          <p:nvPr/>
        </p:nvCxnSpPr>
        <p:spPr>
          <a:xfrm xmlns:a="http://schemas.openxmlformats.org/drawingml/2006/main" flipV="1">
            <a:off x="3952875" y="3476625"/>
            <a:ext cx="809625" cy="152400"/>
          </a:xfrm>
          <a:prstGeom xmlns:a="http://schemas.openxmlformats.org/drawingml/2006/main" prst="straightConnector1">
            <a:avLst/>
          </a:prstGeom>
          <a:ln xmlns:a="http://schemas.openxmlformats.org/drawingml/2006/main" w="19050">
            <a:solidFill>
              <a:srgbClr val="B8C7D1"/>
            </a:solidFill>
            <a:prstDash val="dash"/>
          </a:ln>
        </p:spPr>
      </p:cxnSp>
      <p:cxnSp>
        <p:nvCxnSpPr>
          <p:cNvPr id="34" name=""/>
          <p:cNvCxnSpPr>
            <a:stCxn xmlns:a="http://schemas.openxmlformats.org/drawingml/2006/main" id="10" idx="6"/>
            <a:endCxn xmlns:a="http://schemas.openxmlformats.org/drawingml/2006/main" id="6" idx="2"/>
          </p:cNvCxnSpPr>
          <p:nvPr/>
        </p:nvCxnSpPr>
        <p:spPr>
          <a:xfrm xmlns:a="http://schemas.openxmlformats.org/drawingml/2006/main" flipV="1">
            <a:off x="3952875" y="3476625"/>
            <a:ext cx="809625" cy="1533525"/>
          </a:xfrm>
          <a:prstGeom xmlns:a="http://schemas.openxmlformats.org/drawingml/2006/main" prst="straightConnector1">
            <a:avLst/>
          </a:prstGeom>
          <a:ln xmlns:a="http://schemas.openxmlformats.org/drawingml/2006/main" w="19050">
            <a:solidFill>
              <a:srgbClr val="B8C7D1"/>
            </a:solidFill>
            <a:prstDash val="dash"/>
          </a:ln>
        </p:spPr>
      </p:cxnSp>
      <p:cxnSp>
        <p:nvCxnSpPr>
          <p:cNvPr id="35" name=""/>
          <p:cNvCxnSpPr>
            <a:stCxn xmlns:a="http://schemas.openxmlformats.org/drawingml/2006/main" id="6" idx="6"/>
            <a:endCxn xmlns:a="http://schemas.openxmlformats.org/drawingml/2006/main" id="11" idx="2"/>
          </p:cNvCxnSpPr>
          <p:nvPr/>
        </p:nvCxnSpPr>
        <p:spPr>
          <a:xfrm xmlns:a="http://schemas.openxmlformats.org/drawingml/2006/main" flipV="1">
            <a:off x="7429500" y="2714625"/>
            <a:ext cx="809625" cy="762000"/>
          </a:xfrm>
          <a:prstGeom xmlns:a="http://schemas.openxmlformats.org/drawingml/2006/main" prst="straightConnector1">
            <a:avLst/>
          </a:prstGeom>
          <a:ln xmlns:a="http://schemas.openxmlformats.org/drawingml/2006/main" w="19050">
            <a:solidFill>
              <a:srgbClr val="B8C7D1"/>
            </a:solidFill>
            <a:prstDash val="dash"/>
          </a:ln>
        </p:spPr>
      </p:cxnSp>
      <p:cxnSp>
        <p:nvCxnSpPr>
          <p:cNvPr id="36" name=""/>
          <p:cNvCxnSpPr>
            <a:stCxn xmlns:a="http://schemas.openxmlformats.org/drawingml/2006/main" id="6" idx="6"/>
            <a:endCxn xmlns:a="http://schemas.openxmlformats.org/drawingml/2006/main" id="12" idx="2"/>
          </p:cNvCxnSpPr>
          <p:nvPr/>
        </p:nvCxnSpPr>
        <p:spPr>
          <a:xfrm xmlns:a="http://schemas.openxmlformats.org/drawingml/2006/main">
            <a:off x="7429500" y="3476625"/>
            <a:ext cx="809625" cy="1095375"/>
          </a:xfrm>
          <a:prstGeom xmlns:a="http://schemas.openxmlformats.org/drawingml/2006/main" prst="straightConnector1">
            <a:avLst/>
          </a:prstGeom>
          <a:ln xmlns:a="http://schemas.openxmlformats.org/drawingml/2006/main" w="19050">
            <a:solidFill>
              <a:srgbClr val="B8C7D1"/>
            </a:solidFill>
            <a:prstDash val="dash"/>
          </a:ln>
        </p:spPr>
      </p:cxnSp>
      <p:sp>
        <p:nvSpPr>
          <p:cNvPr id="18" name="">
            <a:extLst xmlns:a="http://schemas.openxmlformats.org/drawingml/2006/main">
              <a:ext uri="{FF2B5EF4-FFF2-40B4-BE49-F238E27FC236}">
                <a16:creationId xmlns:a16="http://schemas.microsoft.com/office/drawing/2014/main" id="{DC8BC244-E95B-4DCB-BFC1-7EC1736EA521}"/>
              </a:ext>
            </a:extLst>
          </p:cNvPr>
          <p:cNvSpPr>
            <a:spLocks xmlns:a="http://schemas.openxmlformats.org/drawingml/2006/main" noGrp="1"/>
          </p:cNvSpPr>
          <p:nvPr/>
        </p:nvSpPr>
        <p:spPr>
          <a:xfrm xmlns:a="http://schemas.openxmlformats.org/drawingml/2006/main">
            <a:off x="4191000" y="5619750"/>
            <a:ext cx="3810000" cy="609600"/>
          </a:xfrm>
          <a:prstGeom xmlns:a="http://schemas.openxmlformats.org/drawingml/2006/main" prst="ellipse">
            <a:avLst/>
          </a:prstGeom>
          <a:solidFill xmlns:a="http://schemas.openxmlformats.org/drawingml/2006/main">
            <a:srgbClr val="FBE8E4"/>
          </a:solidFill>
          <a:ln xmlns:a="http://schemas.openxmlformats.org/drawingml/2006/main" w="19050">
            <a:solidFill>
              <a:srgbClr val="D65A4A"/>
            </a:solidFill>
            <a:prstDash val="solid"/>
          </a:ln>
        </p:spPr>
        <p:txBody>
          <a:bodyPr xmlns:a="http://schemas.openxmlformats.org/drawingml/2006/main" anchor="ctr">
            <a:normAutofit fontScale="82534"/>
          </a:bodyPr>
          <a:lstStyle xmlns:a="http://schemas.openxmlformats.org/drawingml/2006/main"/>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Không đạt cổng: giữ nguyên trạng thái và yêu cầu review</a:t>
            </a:r>
          </a:p>
        </p:txBody>
      </p:sp>
      <p:cxnSp>
        <p:nvCxnSpPr>
          <p:cNvPr id="38" name=""/>
          <p:cNvCxnSpPr>
            <a:stCxn xmlns:a="http://schemas.openxmlformats.org/drawingml/2006/main" id="6" idx="4"/>
            <a:endCxn xmlns:a="http://schemas.openxmlformats.org/drawingml/2006/main" id="18" idx="0"/>
          </p:cNvCxnSpPr>
          <p:nvPr/>
        </p:nvCxnSpPr>
        <p:spPr>
          <a:xfrm xmlns:a="http://schemas.openxmlformats.org/drawingml/2006/main">
            <a:off x="6096000" y="3952875"/>
            <a:ext cx="0" cy="16668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Tree>
    <p:extLst>
      <p:ext uri="{BB962C8B-B14F-4D97-AF65-F5344CB8AC3E}">
        <p14:creationId xmlns:p14="http://schemas.microsoft.com/office/powerpoint/2010/main" val="9402042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50EC73A-29B9-41EA-AD8D-8B28A55840E4}"/>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HƯỚNG DẪN SỬ DỤNG</a:t>
            </a:r>
          </a:p>
        </p:txBody>
      </p:sp>
      <p:sp>
        <p:nvSpPr>
          <p:cNvPr id="2" name="">
            <a:extLst xmlns:a="http://schemas.openxmlformats.org/drawingml/2006/main">
              <a:ext uri="{FF2B5EF4-FFF2-40B4-BE49-F238E27FC236}">
                <a16:creationId xmlns:a16="http://schemas.microsoft.com/office/drawing/2014/main" id="{1C312204-8C38-4E1A-BCC9-A1A629F02094}"/>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Chọn luồng theo câu hỏi cần trả lời</a:t>
            </a:r>
          </a:p>
        </p:txBody>
      </p:sp>
      <p:sp>
        <p:nvSpPr>
          <p:cNvPr id="3" name="">
            <a:extLst xmlns:a="http://schemas.openxmlformats.org/drawingml/2006/main">
              <a:ext uri="{FF2B5EF4-FFF2-40B4-BE49-F238E27FC236}">
                <a16:creationId xmlns:a16="http://schemas.microsoft.com/office/drawing/2014/main" id="{22050B34-0359-4E31-914E-F44646342CD7}"/>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EA49F68-4FBF-48E4-8130-31D881BC5323}"/>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73631182-3E69-4C78-812A-7FD356EE5336}"/>
              </a:ext>
            </a:extLst>
          </p:cNvPr>
          <p:cNvSpPr>
            <a:spLocks xmlns:a="http://schemas.openxmlformats.org/drawingml/2006/main" noGrp="1"/>
          </p:cNvSpPr>
          <p:nvPr/>
        </p:nvSpPr>
        <p:spPr>
          <a:xfrm xmlns:a="http://schemas.openxmlformats.org/drawingml/2006/main">
            <a:off x="714375" y="1619250"/>
            <a:ext cx="3000375" cy="1095375"/>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85865"/>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Ứng dụng có ổn trên</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nhiều model và OS?</a:t>
            </a:r>
          </a:p>
        </p:txBody>
      </p:sp>
      <p:sp>
        <p:nvSpPr>
          <p:cNvPr id="6" name="">
            <a:extLst xmlns:a="http://schemas.openxmlformats.org/drawingml/2006/main">
              <a:ext uri="{FF2B5EF4-FFF2-40B4-BE49-F238E27FC236}">
                <a16:creationId xmlns:a16="http://schemas.microsoft.com/office/drawing/2014/main" id="{C2E9CE47-B3AD-41F7-ABDE-2465278D6FBC}"/>
              </a:ext>
            </a:extLst>
          </p:cNvPr>
          <p:cNvSpPr>
            <a:spLocks xmlns:a="http://schemas.openxmlformats.org/drawingml/2006/main" noGrp="1"/>
          </p:cNvSpPr>
          <p:nvPr/>
        </p:nvSpPr>
        <p:spPr>
          <a:xfrm xmlns:a="http://schemas.openxmlformats.org/drawingml/2006/main">
            <a:off x="4572000" y="1619250"/>
            <a:ext cx="3000375" cy="1095375"/>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3006"/>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Lỗi nằm ở test, dữ liệu</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hay môi trường?</a:t>
            </a:r>
          </a:p>
        </p:txBody>
      </p:sp>
      <p:sp>
        <p:nvSpPr>
          <p:cNvPr id="7" name="">
            <a:extLst xmlns:a="http://schemas.openxmlformats.org/drawingml/2006/main">
              <a:ext uri="{FF2B5EF4-FFF2-40B4-BE49-F238E27FC236}">
                <a16:creationId xmlns:a16="http://schemas.microsoft.com/office/drawing/2014/main" id="{9B194B0E-AA53-4B22-838D-0A2EB12A72BE}"/>
              </a:ext>
            </a:extLst>
          </p:cNvPr>
          <p:cNvSpPr>
            <a:spLocks xmlns:a="http://schemas.openxmlformats.org/drawingml/2006/main" noGrp="1"/>
          </p:cNvSpPr>
          <p:nvPr/>
        </p:nvSpPr>
        <p:spPr>
          <a:xfrm xmlns:a="http://schemas.openxmlformats.org/drawingml/2006/main">
            <a:off x="8429625" y="1619250"/>
            <a:ext cx="3000375" cy="1095375"/>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88094"/>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Có thể đi từ yêu cầu</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đến report tự động?</a:t>
            </a:r>
          </a:p>
        </p:txBody>
      </p:sp>
      <p:sp>
        <p:nvSpPr>
          <p:cNvPr id="8" name="">
            <a:extLst xmlns:a="http://schemas.openxmlformats.org/drawingml/2006/main">
              <a:ext uri="{FF2B5EF4-FFF2-40B4-BE49-F238E27FC236}">
                <a16:creationId xmlns:a16="http://schemas.microsoft.com/office/drawing/2014/main" id="{C6A64424-5F69-42C7-B9B7-9D329141BA6B}"/>
              </a:ext>
            </a:extLst>
          </p:cNvPr>
          <p:cNvSpPr>
            <a:spLocks xmlns:a="http://schemas.openxmlformats.org/drawingml/2006/main" noGrp="1"/>
          </p:cNvSpPr>
          <p:nvPr/>
        </p:nvSpPr>
        <p:spPr>
          <a:xfrm xmlns:a="http://schemas.openxmlformats.org/drawingml/2006/main">
            <a:off x="1000125" y="3524250"/>
            <a:ext cx="2428875" cy="876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82431"/>
                </a:solidFill>
                <a:latin typeface="Arial"/>
                <a:ea typeface="Arial"/>
                <a:cs typeface="Arial"/>
              </a:defRPr>
            </a:pPr>
            <a:r>
              <a:rPr sz="1725" b="1">
                <a:solidFill>
                  <a:srgbClr val="182431"/>
                </a:solidFill>
                <a:latin typeface="Arial"/>
                <a:ea typeface="Arial"/>
                <a:cs typeface="Arial"/>
              </a:rPr>
              <a:t>Device Farm Runner</a:t>
            </a:r>
          </a:p>
        </p:txBody>
      </p:sp>
      <p:sp>
        <p:nvSpPr>
          <p:cNvPr id="9" name="">
            <a:extLst xmlns:a="http://schemas.openxmlformats.org/drawingml/2006/main">
              <a:ext uri="{FF2B5EF4-FFF2-40B4-BE49-F238E27FC236}">
                <a16:creationId xmlns:a16="http://schemas.microsoft.com/office/drawing/2014/main" id="{9FA11294-4B04-4D26-9641-A9A25E11B4BC}"/>
              </a:ext>
            </a:extLst>
          </p:cNvPr>
          <p:cNvSpPr>
            <a:spLocks xmlns:a="http://schemas.openxmlformats.org/drawingml/2006/main" noGrp="1"/>
          </p:cNvSpPr>
          <p:nvPr/>
        </p:nvSpPr>
        <p:spPr>
          <a:xfrm xmlns:a="http://schemas.openxmlformats.org/drawingml/2006/main">
            <a:off x="4857750" y="3524250"/>
            <a:ext cx="2428875" cy="876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98754"/>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82431"/>
                </a:solidFill>
                <a:latin typeface="Arial"/>
                <a:ea typeface="Arial"/>
                <a:cs typeface="Arial"/>
              </a:defRPr>
            </a:pPr>
            <a:r>
              <a:rPr sz="1725" b="1">
                <a:solidFill>
                  <a:srgbClr val="182431"/>
                </a:solidFill>
                <a:latin typeface="Arial"/>
                <a:ea typeface="Arial"/>
                <a:cs typeface="Arial"/>
              </a:rPr>
              <a:t>Local Runner</a:t>
            </a:r>
          </a:p>
        </p:txBody>
      </p:sp>
      <p:sp>
        <p:nvSpPr>
          <p:cNvPr id="10" name="">
            <a:extLst xmlns:a="http://schemas.openxmlformats.org/drawingml/2006/main">
              <a:ext uri="{FF2B5EF4-FFF2-40B4-BE49-F238E27FC236}">
                <a16:creationId xmlns:a16="http://schemas.microsoft.com/office/drawing/2014/main" id="{E4A50CBB-7DC6-4C64-B072-52222EE65287}"/>
              </a:ext>
            </a:extLst>
          </p:cNvPr>
          <p:cNvSpPr>
            <a:spLocks xmlns:a="http://schemas.openxmlformats.org/drawingml/2006/main" noGrp="1"/>
          </p:cNvSpPr>
          <p:nvPr/>
        </p:nvSpPr>
        <p:spPr>
          <a:xfrm xmlns:a="http://schemas.openxmlformats.org/drawingml/2006/main">
            <a:off x="8715375" y="3524250"/>
            <a:ext cx="2428875" cy="876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E7B24A"/>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App Studio Workflow</a:t>
            </a:r>
          </a:p>
        </p:txBody>
      </p:sp>
      <p:cxnSp>
        <p:nvCxnSpPr>
          <p:cNvPr id="31" name=""/>
          <p:cNvCxnSpPr>
            <a:stCxn xmlns:a="http://schemas.openxmlformats.org/drawingml/2006/main" id="5" idx="4"/>
            <a:endCxn xmlns:a="http://schemas.openxmlformats.org/drawingml/2006/main" id="8" idx="0"/>
          </p:cNvCxnSpPr>
          <p:nvPr/>
        </p:nvCxnSpPr>
        <p:spPr>
          <a:xfrm xmlns:a="http://schemas.openxmlformats.org/drawingml/2006/main">
            <a:off x="2214563" y="2714625"/>
            <a:ext cx="0" cy="80962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2" name=""/>
          <p:cNvCxnSpPr>
            <a:stCxn xmlns:a="http://schemas.openxmlformats.org/drawingml/2006/main" id="6" idx="4"/>
            <a:endCxn xmlns:a="http://schemas.openxmlformats.org/drawingml/2006/main" id="9" idx="0"/>
          </p:cNvCxnSpPr>
          <p:nvPr/>
        </p:nvCxnSpPr>
        <p:spPr>
          <a:xfrm xmlns:a="http://schemas.openxmlformats.org/drawingml/2006/main">
            <a:off x="6072188" y="2714625"/>
            <a:ext cx="0" cy="80962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3" name=""/>
          <p:cNvCxnSpPr>
            <a:stCxn xmlns:a="http://schemas.openxmlformats.org/drawingml/2006/main" id="7" idx="4"/>
            <a:endCxn xmlns:a="http://schemas.openxmlformats.org/drawingml/2006/main" id="10" idx="0"/>
          </p:cNvCxnSpPr>
          <p:nvPr/>
        </p:nvCxnSpPr>
        <p:spPr>
          <a:xfrm xmlns:a="http://schemas.openxmlformats.org/drawingml/2006/main">
            <a:off x="9929813" y="2714625"/>
            <a:ext cx="0" cy="80962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4" name="">
            <a:extLst xmlns:a="http://schemas.openxmlformats.org/drawingml/2006/main">
              <a:ext uri="{FF2B5EF4-FFF2-40B4-BE49-F238E27FC236}">
                <a16:creationId xmlns:a16="http://schemas.microsoft.com/office/drawing/2014/main" id="{A821FAC9-D1C1-43FE-BD7B-AF16C05939A5}"/>
              </a:ext>
            </a:extLst>
          </p:cNvPr>
          <p:cNvSpPr>
            <a:spLocks xmlns:a="http://schemas.openxmlformats.org/drawingml/2006/main" noGrp="1"/>
          </p:cNvSpPr>
          <p:nvPr/>
        </p:nvSpPr>
        <p:spPr>
          <a:xfrm xmlns:a="http://schemas.openxmlformats.org/drawingml/2006/main">
            <a:off x="1000125" y="4619625"/>
            <a:ext cx="2428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ctr">
              <a:defRPr sz="1425" b="1">
                <a:solidFill>
                  <a:srgbClr val="1F6F8B"/>
                </a:solidFill>
                <a:latin typeface="Arial"/>
                <a:ea typeface="Arial"/>
                <a:cs typeface="Arial"/>
              </a:defRPr>
            </a:pPr>
            <a:r>
              <a:rPr sz="1425" b="1">
                <a:solidFill>
                  <a:srgbClr val="1F6F8B"/>
                </a:solidFill>
                <a:latin typeface="Arial"/>
                <a:ea typeface="Arial"/>
                <a:cs typeface="Arial"/>
              </a:rPr>
              <a:t>Trước release</a:t>
            </a:r>
          </a:p>
        </p:txBody>
      </p:sp>
      <p:sp>
        <p:nvSpPr>
          <p:cNvPr id="15" name="">
            <a:extLst xmlns:a="http://schemas.openxmlformats.org/drawingml/2006/main">
              <a:ext uri="{FF2B5EF4-FFF2-40B4-BE49-F238E27FC236}">
                <a16:creationId xmlns:a16="http://schemas.microsoft.com/office/drawing/2014/main" id="{BE0D4035-65FB-4EA6-8956-E097B54BC8DD}"/>
              </a:ext>
            </a:extLst>
          </p:cNvPr>
          <p:cNvSpPr>
            <a:spLocks xmlns:a="http://schemas.openxmlformats.org/drawingml/2006/main" noGrp="1"/>
          </p:cNvSpPr>
          <p:nvPr/>
        </p:nvSpPr>
        <p:spPr>
          <a:xfrm xmlns:a="http://schemas.openxmlformats.org/drawingml/2006/main">
            <a:off x="4857750" y="4619625"/>
            <a:ext cx="2428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ctr">
              <a:defRPr sz="1425" b="1">
                <a:solidFill>
                  <a:srgbClr val="198754"/>
                </a:solidFill>
                <a:latin typeface="Arial"/>
                <a:ea typeface="Arial"/>
                <a:cs typeface="Arial"/>
              </a:defRPr>
            </a:pPr>
            <a:r>
              <a:rPr sz="1425" b="1">
                <a:solidFill>
                  <a:srgbClr val="198754"/>
                </a:solidFill>
                <a:latin typeface="Arial"/>
                <a:ea typeface="Arial"/>
                <a:cs typeface="Arial"/>
              </a:rPr>
              <a:t>Trong vòng lặp phát triển</a:t>
            </a:r>
          </a:p>
        </p:txBody>
      </p:sp>
      <p:sp>
        <p:nvSpPr>
          <p:cNvPr id="16" name="">
            <a:extLst xmlns:a="http://schemas.openxmlformats.org/drawingml/2006/main">
              <a:ext uri="{FF2B5EF4-FFF2-40B4-BE49-F238E27FC236}">
                <a16:creationId xmlns:a16="http://schemas.microsoft.com/office/drawing/2014/main" id="{D950AF15-C0FA-44D2-9884-BB0FB1797A3D}"/>
              </a:ext>
            </a:extLst>
          </p:cNvPr>
          <p:cNvSpPr>
            <a:spLocks xmlns:a="http://schemas.openxmlformats.org/drawingml/2006/main" noGrp="1"/>
          </p:cNvSpPr>
          <p:nvPr/>
        </p:nvSpPr>
        <p:spPr>
          <a:xfrm xmlns:a="http://schemas.openxmlformats.org/drawingml/2006/main">
            <a:off x="8620125" y="4619625"/>
            <a:ext cx="261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239"/>
          </a:bodyPr>
          <a:lstStyle xmlns:a="http://schemas.openxmlformats.org/drawingml/2006/main"/>
          <a:p xmlns:a="http://schemas.openxmlformats.org/drawingml/2006/main">
            <a:pPr algn="ctr">
              <a:defRPr sz="1425" b="1">
                <a:solidFill>
                  <a:srgbClr val="A66B00"/>
                </a:solidFill>
                <a:latin typeface="Arial"/>
                <a:ea typeface="Arial"/>
                <a:cs typeface="Arial"/>
              </a:defRPr>
            </a:pPr>
            <a:r>
              <a:rPr sz="1425" b="1">
                <a:solidFill>
                  <a:srgbClr val="A66B00"/>
                </a:solidFill>
                <a:latin typeface="Arial"/>
                <a:ea typeface="Arial"/>
                <a:cs typeface="Arial"/>
              </a:rPr>
              <a:t>Khi tạo hoặc cập nhật coverage</a:t>
            </a:r>
          </a:p>
        </p:txBody>
      </p:sp>
      <p:sp>
        <p:nvSpPr>
          <p:cNvPr id="17" name="">
            <a:extLst xmlns:a="http://schemas.openxmlformats.org/drawingml/2006/main">
              <a:ext uri="{FF2B5EF4-FFF2-40B4-BE49-F238E27FC236}">
                <a16:creationId xmlns:a16="http://schemas.microsoft.com/office/drawing/2014/main" id="{476981A8-8155-4288-BFB8-1302621924BC}"/>
              </a:ext>
            </a:extLst>
          </p:cNvPr>
          <p:cNvSpPr>
            <a:spLocks xmlns:a="http://schemas.openxmlformats.org/drawingml/2006/main" noGrp="1"/>
          </p:cNvSpPr>
          <p:nvPr/>
        </p:nvSpPr>
        <p:spPr>
          <a:xfrm xmlns:a="http://schemas.openxmlformats.org/drawingml/2006/main">
            <a:off x="1428750" y="5429250"/>
            <a:ext cx="9334500" cy="628650"/>
          </a:xfrm>
          <a:prstGeom xmlns:a="http://schemas.openxmlformats.org/drawingml/2006/main" prst="roundRect">
            <a:avLst>
              <a:gd name="adj" fmla="val 12121"/>
            </a:avLst>
          </a:prstGeom>
          <a:solidFill xmlns:a="http://schemas.openxmlformats.org/drawingml/2006/main">
            <a:srgbClr val="F3F7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D61229F-CC14-447D-930F-26A253AF9841}"/>
              </a:ext>
            </a:extLst>
          </p:cNvPr>
          <p:cNvSpPr>
            <a:spLocks xmlns:a="http://schemas.openxmlformats.org/drawingml/2006/main" noGrp="1"/>
          </p:cNvSpPr>
          <p:nvPr/>
        </p:nvSpPr>
        <p:spPr>
          <a:xfrm xmlns:a="http://schemas.openxmlformats.org/drawingml/2006/main">
            <a:off x="1428750" y="5429250"/>
            <a:ext cx="66675" cy="628650"/>
          </a:xfrm>
          <a:prstGeom xmlns:a="http://schemas.openxmlformats.org/drawingml/2006/main" prst="roundRect">
            <a:avLst>
              <a:gd name="adj" fmla="val 50000"/>
            </a:avLst>
          </a:prstGeom>
          <a:solidFill xmlns:a="http://schemas.openxmlformats.org/drawingml/2006/main">
            <a:srgbClr val="102A4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039875A-A5C0-4E06-8657-59A831AAB401}"/>
              </a:ext>
            </a:extLst>
          </p:cNvPr>
          <p:cNvSpPr>
            <a:spLocks xmlns:a="http://schemas.openxmlformats.org/drawingml/2006/main" noGrp="1"/>
          </p:cNvSpPr>
          <p:nvPr/>
        </p:nvSpPr>
        <p:spPr>
          <a:xfrm xmlns:a="http://schemas.openxmlformats.org/drawingml/2006/main">
            <a:off x="1638300" y="55054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02A43"/>
                </a:solidFill>
                <a:latin typeface="Arial"/>
                <a:ea typeface="Arial"/>
                <a:cs typeface="Arial"/>
              </a:defRPr>
            </a:pPr>
            <a:r>
              <a:rPr sz="1275" b="1">
                <a:solidFill>
                  <a:srgbClr val="102A43"/>
                </a:solidFill>
                <a:latin typeface="Arial"/>
                <a:ea typeface="Arial"/>
                <a:cs typeface="Arial"/>
              </a:rPr>
              <a:t>KHUYẾN NGHỊ</a:t>
            </a:r>
          </a:p>
        </p:txBody>
      </p:sp>
      <p:sp>
        <p:nvSpPr>
          <p:cNvPr id="20" name="">
            <a:extLst xmlns:a="http://schemas.openxmlformats.org/drawingml/2006/main">
              <a:ext uri="{FF2B5EF4-FFF2-40B4-BE49-F238E27FC236}">
                <a16:creationId xmlns:a16="http://schemas.microsoft.com/office/drawing/2014/main" id="{CE5AA12C-00D3-4B27-BC48-01A2B9B1CCC0}"/>
              </a:ext>
            </a:extLst>
          </p:cNvPr>
          <p:cNvSpPr>
            <a:spLocks xmlns:a="http://schemas.openxmlformats.org/drawingml/2006/main" noGrp="1"/>
          </p:cNvSpPr>
          <p:nvPr/>
        </p:nvSpPr>
        <p:spPr>
          <a:xfrm xmlns:a="http://schemas.openxmlformats.org/drawingml/2006/main">
            <a:off x="1638300" y="5705475"/>
            <a:ext cx="8972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Studio chuẩn bị testcase, Local Runner ổn định suite, Device Farm mở rộng độ phủ trước release</a:t>
            </a:r>
          </a:p>
        </p:txBody>
      </p:sp>
    </p:spTree>
    <p:extLst>
      <p:ext uri="{BB962C8B-B14F-4D97-AF65-F5344CB8AC3E}">
        <p14:creationId xmlns:p14="http://schemas.microsoft.com/office/powerpoint/2010/main" val="575743097"/>
      </p:ext>
    </p:extLst>
  </p:cSld>
</p:sld>
</file>

<file path=ppt/slides/slide8.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D51E2AD-6D2A-47D8-B109-D3A37D435A40}"/>
              </a:ext>
            </a:extLst>
          </p:cNvPr>
          <p:cNvSpPr>
            <a:spLocks xmlns:a="http://schemas.openxmlformats.org/drawingml/2006/main" noGrp="1"/>
          </p:cNvSpPr>
          <p:nvPr/>
        </p:nvSpPr>
        <p:spPr>
          <a:xfrm xmlns:a="http://schemas.openxmlformats.org/drawingml/2006/main">
            <a:off x="685800" y="523875"/>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181"/>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Một vòng đời kiểm thử liền mạch</a:t>
            </a:r>
          </a:p>
        </p:txBody>
      </p:sp>
      <p:sp>
        <p:nvSpPr>
          <p:cNvPr id="2" name="">
            <a:extLst xmlns:a="http://schemas.openxmlformats.org/drawingml/2006/main">
              <a:ext uri="{FF2B5EF4-FFF2-40B4-BE49-F238E27FC236}">
                <a16:creationId xmlns:a16="http://schemas.microsoft.com/office/drawing/2014/main" id="{051FFE76-350B-42DE-9DCA-909DB7D3A8DB}"/>
              </a:ext>
            </a:extLst>
          </p:cNvPr>
          <p:cNvSpPr>
            <a:spLocks xmlns:a="http://schemas.openxmlformats.org/drawingml/2006/main" noGrp="1"/>
          </p:cNvSpPr>
          <p:nvPr/>
        </p:nvSpPr>
        <p:spPr>
          <a:xfrm xmlns:a="http://schemas.openxmlformats.org/drawingml/2006/main">
            <a:off x="704850" y="1190625"/>
            <a:ext cx="904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611"/>
          </a:bodyPr>
          <a:lstStyle xmlns:a="http://schemas.openxmlformats.org/drawingml/2006/main"/>
          <a:p xmlns:a="http://schemas.openxmlformats.org/drawingml/2006/main">
            <a:pPr algn="l">
              <a:defRPr sz="1800" b="0">
                <a:solidFill>
                  <a:srgbClr val="C8D8E3"/>
                </a:solidFill>
                <a:latin typeface="Arial"/>
                <a:ea typeface="Arial"/>
                <a:cs typeface="Arial"/>
              </a:defRPr>
            </a:pPr>
            <a:r>
              <a:rPr sz="1800" b="0">
                <a:solidFill>
                  <a:srgbClr val="C8D8E3"/>
                </a:solidFill>
                <a:latin typeface="Arial"/>
                <a:ea typeface="Arial"/>
                <a:cs typeface="Arial"/>
              </a:rPr>
              <a:t>Cùng một feature. Chọn mức tự động hoá phù hợp ở từng thời điểm.</a:t>
            </a:r>
          </a:p>
        </p:txBody>
      </p:sp>
      <p:sp>
        <p:nvSpPr>
          <p:cNvPr id="3" name="">
            <a:extLst xmlns:a="http://schemas.openxmlformats.org/drawingml/2006/main">
              <a:ext uri="{FF2B5EF4-FFF2-40B4-BE49-F238E27FC236}">
                <a16:creationId xmlns:a16="http://schemas.microsoft.com/office/drawing/2014/main" id="{A23726A3-BDC5-476E-92DC-6AE3AB50555A}"/>
              </a:ext>
            </a:extLst>
          </p:cNvPr>
          <p:cNvSpPr>
            <a:spLocks xmlns:a="http://schemas.openxmlformats.org/drawingml/2006/main" noGrp="1"/>
          </p:cNvSpPr>
          <p:nvPr/>
        </p:nvSpPr>
        <p:spPr>
          <a:xfrm xmlns:a="http://schemas.openxmlformats.org/drawingml/2006/main">
            <a:off x="857250" y="2476500"/>
            <a:ext cx="2762250" cy="1047750"/>
          </a:xfrm>
          <a:prstGeom xmlns:a="http://schemas.openxmlformats.org/drawingml/2006/main" prst="ellipse">
            <a:avLst/>
          </a:prstGeom>
          <a:solidFill xmlns:a="http://schemas.openxmlformats.org/drawingml/2006/main">
            <a:srgbClr val="FFF2D5"/>
          </a:solidFill>
          <a:ln xmlns:a="http://schemas.openxmlformats.org/drawingml/2006/main" w="19050">
            <a:solidFill>
              <a:srgbClr val="FFF2D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1   Studio</a:t>
            </a:r>
          </a:p>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Tạo và review</a:t>
            </a:r>
          </a:p>
        </p:txBody>
      </p:sp>
      <p:sp>
        <p:nvSpPr>
          <p:cNvPr id="4" name="">
            <a:extLst xmlns:a="http://schemas.openxmlformats.org/drawingml/2006/main">
              <a:ext uri="{FF2B5EF4-FFF2-40B4-BE49-F238E27FC236}">
                <a16:creationId xmlns:a16="http://schemas.microsoft.com/office/drawing/2014/main" id="{B4608560-D7D0-40A4-A251-B8BD5F7EE91C}"/>
              </a:ext>
            </a:extLst>
          </p:cNvPr>
          <p:cNvSpPr>
            <a:spLocks xmlns:a="http://schemas.openxmlformats.org/drawingml/2006/main" noGrp="1"/>
          </p:cNvSpPr>
          <p:nvPr/>
        </p:nvSpPr>
        <p:spPr>
          <a:xfrm xmlns:a="http://schemas.openxmlformats.org/drawingml/2006/main">
            <a:off x="4714875" y="2476500"/>
            <a:ext cx="2762250" cy="1047750"/>
          </a:xfrm>
          <a:prstGeom xmlns:a="http://schemas.openxmlformats.org/drawingml/2006/main" prst="ellipse">
            <a:avLst/>
          </a:prstGeom>
          <a:solidFill xmlns:a="http://schemas.openxmlformats.org/drawingml/2006/main">
            <a:srgbClr val="DDEFE7"/>
          </a:solidFill>
          <a:ln xmlns:a="http://schemas.openxmlformats.org/drawingml/2006/main" w="19050">
            <a:solidFill>
              <a:srgbClr val="DDEFE7"/>
            </a:solidFill>
            <a:prstDash val="solid"/>
          </a:ln>
        </p:spPr>
        <p:txBody>
          <a:bodyPr xmlns:a="http://schemas.openxmlformats.org/drawingml/2006/main" anchor="ctr">
            <a:normAutofit fontScale="87862"/>
          </a:bodyPr>
          <a:lstStyle xmlns:a="http://schemas.openxmlformats.org/drawingml/2006/main"/>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2   Local</a:t>
            </a:r>
          </a:p>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Ổn định và debug</a:t>
            </a:r>
          </a:p>
        </p:txBody>
      </p:sp>
      <p:sp>
        <p:nvSpPr>
          <p:cNvPr id="5" name="">
            <a:extLst xmlns:a="http://schemas.openxmlformats.org/drawingml/2006/main">
              <a:ext uri="{FF2B5EF4-FFF2-40B4-BE49-F238E27FC236}">
                <a16:creationId xmlns:a16="http://schemas.microsoft.com/office/drawing/2014/main" id="{BB2055D6-3FFB-476A-9B1C-1E436FC76114}"/>
              </a:ext>
            </a:extLst>
          </p:cNvPr>
          <p:cNvSpPr>
            <a:spLocks xmlns:a="http://schemas.openxmlformats.org/drawingml/2006/main" noGrp="1"/>
          </p:cNvSpPr>
          <p:nvPr/>
        </p:nvSpPr>
        <p:spPr>
          <a:xfrm xmlns:a="http://schemas.openxmlformats.org/drawingml/2006/main">
            <a:off x="8572500" y="2476500"/>
            <a:ext cx="2762250" cy="1047750"/>
          </a:xfrm>
          <a:prstGeom xmlns:a="http://schemas.openxmlformats.org/drawingml/2006/main" prst="ellipse">
            <a:avLst/>
          </a:prstGeom>
          <a:solidFill xmlns:a="http://schemas.openxmlformats.org/drawingml/2006/main">
            <a:srgbClr val="DFF3F6"/>
          </a:solidFill>
          <a:ln xmlns:a="http://schemas.openxmlformats.org/drawingml/2006/main" w="19050">
            <a:solidFill>
              <a:srgbClr val="DFF3F6"/>
            </a:solidFill>
            <a:prstDash val="solid"/>
          </a:ln>
        </p:spPr>
        <p:txBody>
          <a:bodyPr xmlns:a="http://schemas.openxmlformats.org/drawingml/2006/main" anchor="ctr">
            <a:normAutofit fontScale="97110"/>
          </a:bodyPr>
          <a:lstStyle xmlns:a="http://schemas.openxmlformats.org/drawingml/2006/main"/>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3   Farm</a:t>
            </a:r>
          </a:p>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Mở rộng độ phủ</a:t>
            </a:r>
          </a:p>
        </p:txBody>
      </p:sp>
      <p:cxnSp>
        <p:nvCxnSpPr>
          <p:cNvPr id="18" name=""/>
          <p:cNvCxnSpPr>
            <a:stCxn xmlns:a="http://schemas.openxmlformats.org/drawingml/2006/main" id="3" idx="6"/>
            <a:endCxn xmlns:a="http://schemas.openxmlformats.org/drawingml/2006/main" id="4" idx="2"/>
          </p:cNvCxnSpPr>
          <p:nvPr/>
        </p:nvCxnSpPr>
        <p:spPr>
          <a:xfrm xmlns:a="http://schemas.openxmlformats.org/drawingml/2006/main">
            <a:off x="3619500" y="3000375"/>
            <a:ext cx="10953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19" name=""/>
          <p:cNvCxnSpPr>
            <a:stCxn xmlns:a="http://schemas.openxmlformats.org/drawingml/2006/main" id="4" idx="6"/>
            <a:endCxn xmlns:a="http://schemas.openxmlformats.org/drawingml/2006/main" id="5" idx="2"/>
          </p:cNvCxnSpPr>
          <p:nvPr/>
        </p:nvCxnSpPr>
        <p:spPr>
          <a:xfrm xmlns:a="http://schemas.openxmlformats.org/drawingml/2006/main">
            <a:off x="7477125" y="3000375"/>
            <a:ext cx="10953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8" name="">
            <a:extLst xmlns:a="http://schemas.openxmlformats.org/drawingml/2006/main">
              <a:ext uri="{FF2B5EF4-FFF2-40B4-BE49-F238E27FC236}">
                <a16:creationId xmlns:a16="http://schemas.microsoft.com/office/drawing/2014/main" id="{B3370EFE-AD02-4F38-B847-0CC0F802BAC2}"/>
              </a:ext>
            </a:extLst>
          </p:cNvPr>
          <p:cNvSpPr>
            <a:spLocks xmlns:a="http://schemas.openxmlformats.org/drawingml/2006/main" noGrp="1"/>
          </p:cNvSpPr>
          <p:nvPr/>
        </p:nvSpPr>
        <p:spPr>
          <a:xfrm xmlns:a="http://schemas.openxmlformats.org/drawingml/2006/main">
            <a:off x="1190625" y="44291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667"/>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AI hỗ trợ ở nơi cần hiểu và suy luận</a:t>
            </a:r>
          </a:p>
        </p:txBody>
      </p:sp>
      <p:sp>
        <p:nvSpPr>
          <p:cNvPr id="9" name="">
            <a:extLst xmlns:a="http://schemas.openxmlformats.org/drawingml/2006/main">
              <a:ext uri="{FF2B5EF4-FFF2-40B4-BE49-F238E27FC236}">
                <a16:creationId xmlns:a16="http://schemas.microsoft.com/office/drawing/2014/main" id="{2C59CE59-0A1B-4B57-9769-FE76F51722F7}"/>
              </a:ext>
            </a:extLst>
          </p:cNvPr>
          <p:cNvSpPr>
            <a:spLocks xmlns:a="http://schemas.openxmlformats.org/drawingml/2006/main" noGrp="1"/>
          </p:cNvSpPr>
          <p:nvPr/>
        </p:nvSpPr>
        <p:spPr>
          <a:xfrm xmlns:a="http://schemas.openxmlformats.org/drawingml/2006/main">
            <a:off x="6524625" y="44291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714"/>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Code và policy giữ quyền kiểm soát kết quả</a:t>
            </a:r>
          </a:p>
        </p:txBody>
      </p:sp>
      <p:sp>
        <p:nvSpPr>
          <p:cNvPr id="10" name="">
            <a:extLst xmlns:a="http://schemas.openxmlformats.org/drawingml/2006/main">
              <a:ext uri="{FF2B5EF4-FFF2-40B4-BE49-F238E27FC236}">
                <a16:creationId xmlns:a16="http://schemas.microsoft.com/office/drawing/2014/main" id="{79BFCCB6-E3A1-4173-9614-46579D8572BF}"/>
              </a:ext>
            </a:extLst>
          </p:cNvPr>
          <p:cNvSpPr>
            <a:spLocks xmlns:a="http://schemas.openxmlformats.org/drawingml/2006/main" noGrp="1"/>
          </p:cNvSpPr>
          <p:nvPr/>
        </p:nvSpPr>
        <p:spPr>
          <a:xfrm xmlns:a="http://schemas.openxmlformats.org/drawingml/2006/main">
            <a:off x="1066800" y="5048250"/>
            <a:ext cx="4762500" cy="2857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2812BF7-36BB-47F3-A6DD-FD4CD8ADEEFC}"/>
              </a:ext>
            </a:extLst>
          </p:cNvPr>
          <p:cNvSpPr>
            <a:spLocks xmlns:a="http://schemas.openxmlformats.org/drawingml/2006/main" noGrp="1"/>
          </p:cNvSpPr>
          <p:nvPr/>
        </p:nvSpPr>
        <p:spPr>
          <a:xfrm xmlns:a="http://schemas.openxmlformats.org/drawingml/2006/main">
            <a:off x="6362700" y="5048250"/>
            <a:ext cx="4762500" cy="28575"/>
          </a:xfrm>
          <a:prstGeom xmlns:a="http://schemas.openxmlformats.org/drawingml/2006/main" prst="rect">
            <a:avLst/>
          </a:prstGeom>
          <a:solidFill xmlns:a="http://schemas.openxmlformats.org/drawingml/2006/main">
            <a:srgbClr val="1F6F8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9E500B6-5C73-471B-9310-1505AD17422F}"/>
              </a:ext>
            </a:extLst>
          </p:cNvPr>
          <p:cNvSpPr>
            <a:spLocks xmlns:a="http://schemas.openxmlformats.org/drawingml/2006/main" noGrp="1"/>
          </p:cNvSpPr>
          <p:nvPr/>
        </p:nvSpPr>
        <p:spPr>
          <a:xfrm xmlns:a="http://schemas.openxmlformats.org/drawingml/2006/main">
            <a:off x="1428750" y="552450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974"/>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Kết quả cuối cùng: report gắn đúng testcase, đúng thời điểm, đủ ảnh, video và log để ra quyết định.</a:t>
            </a:r>
          </a:p>
        </p:txBody>
      </p:sp>
    </p:spTree>
    <p:extLst>
      <p:ext uri="{BB962C8B-B14F-4D97-AF65-F5344CB8AC3E}">
        <p14:creationId xmlns:p14="http://schemas.microsoft.com/office/powerpoint/2010/main" val="10925935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2026-09-15T03:55:07.8030000Z</dcterms:created>
  <dcterms:modified xsi:type="dcterms:W3CDTF">2026-09-15T03:55:07.8030000Z</dcterms:modified>
</coreProperties>
</file>